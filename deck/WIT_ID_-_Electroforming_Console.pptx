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1"/>
  </p:notesMasterIdLst>
  <p:sldIdLst>
    <p:sldId id="336" r:id="rId26"/>
    <p:sldId id="337" r:id="rId27"/>
    <p:sldId id="338" r:id="rId28"/>
    <p:sldId id="339" r:id="rId29"/>
    <p:sldId id="340" r:id="rId30"/>
    <p:sldId id="341" r:id="rId25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</p:sldIdLst>
  <p:sldSz cx="18288000" cy="10287000"/>
  <p:notesSz cx="6858000" cy="9144000"/>
  <p:embeddedFontLst>
    <p:embeddedFont>
      <p:font typeface="General Sans 2 Semi-Bold" charset="1" panose="00000000000000000000"/>
      <p:regular r:id="rId86"/>
    </p:embeddedFont>
    <p:embeddedFont>
      <p:font typeface="General Sans 2" charset="1" panose="00000000000000000000"/>
      <p:regular r:id="rId87"/>
    </p:embeddedFont>
    <p:embeddedFont>
      <p:font typeface="General Sans 2 Bold" charset="1" panose="00000000000000000000"/>
      <p:regular r:id="rId88"/>
    </p:embeddedFont>
    <p:embeddedFont>
      <p:font typeface="General Sans 2 Medium" charset="1" panose="00000000000000000000"/>
      <p:regular r:id="rId89"/>
    </p:embeddedFont>
    <p:embeddedFont>
      <p:font typeface="Canva Sans" charset="1" panose="020B0503030501040103"/>
      <p:regular r:id="rId90"/>
    </p:embeddedFont>
    <p:embeddedFont>
      <p:font typeface="General Sans 1 Semi-Bold" charset="1" panose="00000000000000000000"/>
      <p:regular r:id="rId98"/>
    </p:embeddedFont>
    <p:embeddedFont>
      <p:font typeface="General Sans 1" charset="1" panose="00000000000000000000"/>
      <p:regular r:id="rId99"/>
    </p:embeddedFont>
    <p:embeddedFont>
      <p:font typeface="General Sans 1 Medium" charset="1" panose="00000000000000000000"/>
      <p:regular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5" Type="http://schemas.openxmlformats.org/officeDocument/2006/relationships/slide" Target="slides/slide11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86" Type="http://schemas.openxmlformats.org/officeDocument/2006/relationships/font" Target="fonts/font86.fntdata"/><Relationship Id="rId87" Type="http://schemas.openxmlformats.org/officeDocument/2006/relationships/font" Target="fonts/font87.fntdata"/><Relationship Id="rId88" Type="http://schemas.openxmlformats.org/officeDocument/2006/relationships/font" Target="fonts/font88.fntdata"/><Relationship Id="rId89" Type="http://schemas.openxmlformats.org/officeDocument/2006/relationships/font" Target="fonts/font89.fntdata"/><Relationship Id="rId90" Type="http://schemas.openxmlformats.org/officeDocument/2006/relationships/font" Target="fonts/font90.fntdata"/><Relationship Id="rId91" Type="http://schemas.openxmlformats.org/officeDocument/2006/relationships/notesMaster" Target="notesMasters/notesMaster1.xml"/><Relationship Id="rId92" Type="http://schemas.openxmlformats.org/officeDocument/2006/relationships/theme" Target="theme/theme2.xml"/><Relationship Id="rId93" Type="http://schemas.openxmlformats.org/officeDocument/2006/relationships/notesSlide" Target="notesSlides/notesSlide1.xml"/><Relationship Id="rId94" Type="http://schemas.openxmlformats.org/officeDocument/2006/relationships/notesSlide" Target="notesSlides/notesSlide2.xml"/><Relationship Id="rId95" Type="http://schemas.openxmlformats.org/officeDocument/2006/relationships/notesSlide" Target="notesSlides/notesSlide3.xml"/><Relationship Id="rId96" Type="http://schemas.openxmlformats.org/officeDocument/2006/relationships/notesSlide" Target="notesSlides/notesSlide4.xml"/><Relationship Id="rId97" Type="http://schemas.openxmlformats.org/officeDocument/2006/relationships/notesSlide" Target="notesSlides/notesSlide5.xml"/><Relationship Id="rId98" Type="http://schemas.openxmlformats.org/officeDocument/2006/relationships/font" Target="fonts/font98.fntdata"/><Relationship Id="rId99" Type="http://schemas.openxmlformats.org/officeDocument/2006/relationships/font" Target="fonts/font99.fntdata"/><Relationship Id="rId100" Type="http://schemas.openxmlformats.org/officeDocument/2006/relationships/font" Target="fonts/font10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4.png"/><Relationship Id="rId9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22.png"/><Relationship Id="rId9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434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14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1132582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2" r="0" b="-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6746940" y="-1254060"/>
            <a:ext cx="4794119" cy="18288000"/>
            <a:chOff x="0" y="0"/>
            <a:chExt cx="1262649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49" cy="4816592"/>
            </a:xfrm>
            <a:custGeom>
              <a:avLst/>
              <a:gdLst/>
              <a:ahLst/>
              <a:cxnLst/>
              <a:rect r="r" b="b" t="t" l="l"/>
              <a:pathLst>
                <a:path h="4816592" w="1262649">
                  <a:moveTo>
                    <a:pt x="0" y="0"/>
                  </a:moveTo>
                  <a:lnTo>
                    <a:pt x="1262649" y="0"/>
                  </a:lnTo>
                  <a:lnTo>
                    <a:pt x="1262649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1262649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8144696" y="-8144696"/>
            <a:ext cx="1998608" cy="18288000"/>
            <a:chOff x="0" y="0"/>
            <a:chExt cx="526382" cy="48165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6382" cy="4816592"/>
            </a:xfrm>
            <a:custGeom>
              <a:avLst/>
              <a:gdLst/>
              <a:ahLst/>
              <a:cxnLst/>
              <a:rect r="r" b="b" t="t" l="l"/>
              <a:pathLst>
                <a:path h="4816592" w="526382">
                  <a:moveTo>
                    <a:pt x="0" y="0"/>
                  </a:moveTo>
                  <a:lnTo>
                    <a:pt x="526382" y="0"/>
                  </a:lnTo>
                  <a:lnTo>
                    <a:pt x="526382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26382" cy="478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cover_qr_box" id="9"/>
          <p:cNvGrpSpPr/>
          <p:nvPr/>
        </p:nvGrpSpPr>
        <p:grpSpPr>
          <a:xfrm rot="0">
            <a:off x="15954897" y="8294959"/>
            <a:ext cx="1304403" cy="1304403"/>
            <a:chOff x="0" y="0"/>
            <a:chExt cx="395541" cy="3955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541" cy="395541"/>
            </a:xfrm>
            <a:custGeom>
              <a:avLst/>
              <a:gdLst/>
              <a:ahLst/>
              <a:cxnLst/>
              <a:rect r="r" b="b" t="t" l="l"/>
              <a:pathLst>
                <a:path h="395541" w="395541">
                  <a:moveTo>
                    <a:pt x="136510" y="0"/>
                  </a:moveTo>
                  <a:lnTo>
                    <a:pt x="259031" y="0"/>
                  </a:lnTo>
                  <a:cubicBezTo>
                    <a:pt x="295236" y="0"/>
                    <a:pt x="329958" y="14382"/>
                    <a:pt x="355558" y="39983"/>
                  </a:cubicBezTo>
                  <a:cubicBezTo>
                    <a:pt x="381159" y="65583"/>
                    <a:pt x="395541" y="100305"/>
                    <a:pt x="395541" y="136510"/>
                  </a:cubicBezTo>
                  <a:lnTo>
                    <a:pt x="395541" y="259031"/>
                  </a:lnTo>
                  <a:cubicBezTo>
                    <a:pt x="395541" y="295236"/>
                    <a:pt x="381159" y="329958"/>
                    <a:pt x="355558" y="355558"/>
                  </a:cubicBezTo>
                  <a:cubicBezTo>
                    <a:pt x="329958" y="381159"/>
                    <a:pt x="295236" y="395541"/>
                    <a:pt x="259031" y="395541"/>
                  </a:cubicBezTo>
                  <a:lnTo>
                    <a:pt x="136510" y="395541"/>
                  </a:lnTo>
                  <a:cubicBezTo>
                    <a:pt x="100305" y="395541"/>
                    <a:pt x="65583" y="381159"/>
                    <a:pt x="39983" y="355558"/>
                  </a:cubicBezTo>
                  <a:cubicBezTo>
                    <a:pt x="14382" y="329958"/>
                    <a:pt x="0" y="295236"/>
                    <a:pt x="0" y="259031"/>
                  </a:cubicBezTo>
                  <a:lnTo>
                    <a:pt x="0" y="136510"/>
                  </a:lnTo>
                  <a:cubicBezTo>
                    <a:pt x="0" y="100305"/>
                    <a:pt x="14382" y="65583"/>
                    <a:pt x="39983" y="39983"/>
                  </a:cubicBezTo>
                  <a:cubicBezTo>
                    <a:pt x="65583" y="14382"/>
                    <a:pt x="100305" y="0"/>
                    <a:pt x="1365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395541" cy="3669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over_qr" id="12"/>
          <p:cNvSpPr/>
          <p:nvPr/>
        </p:nvSpPr>
        <p:spPr>
          <a:xfrm flipH="false" flipV="false" rot="0">
            <a:off x="16073289" y="8409952"/>
            <a:ext cx="1067618" cy="1074416"/>
          </a:xfrm>
          <a:custGeom>
            <a:avLst/>
            <a:gdLst/>
            <a:ahLst/>
            <a:cxnLst/>
            <a:rect r="r" b="b" t="t" l="l"/>
            <a:pathLst>
              <a:path h="1074416" w="1067618">
                <a:moveTo>
                  <a:pt x="0" y="0"/>
                </a:moveTo>
                <a:lnTo>
                  <a:pt x="1067618" y="0"/>
                </a:lnTo>
                <a:lnTo>
                  <a:pt x="1067618" y="1074417"/>
                </a:lnTo>
                <a:lnTo>
                  <a:pt x="0" y="107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8" t="0" r="-318" b="0"/>
            </a:stretch>
          </a:blipFill>
        </p:spPr>
      </p:sp>
      <p:grpSp>
        <p:nvGrpSpPr>
          <p:cNvPr name="cover_badge_box" id="13"/>
          <p:cNvGrpSpPr/>
          <p:nvPr/>
        </p:nvGrpSpPr>
        <p:grpSpPr>
          <a:xfrm rot="0">
            <a:off x="929564" y="6850079"/>
            <a:ext cx="3994321" cy="522240"/>
            <a:chOff x="0" y="0"/>
            <a:chExt cx="6367603" cy="10720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7603" cy="1072038"/>
            </a:xfrm>
            <a:custGeom>
              <a:avLst/>
              <a:gdLst/>
              <a:ahLst/>
              <a:cxnLst/>
              <a:rect r="r" b="b" t="t" l="l"/>
              <a:pathLst>
                <a:path h="1072038" w="6367603">
                  <a:moveTo>
                    <a:pt x="249582" y="0"/>
                  </a:moveTo>
                  <a:lnTo>
                    <a:pt x="6118022" y="0"/>
                  </a:lnTo>
                  <a:cubicBezTo>
                    <a:pt x="6255862" y="0"/>
                    <a:pt x="6367603" y="111742"/>
                    <a:pt x="6367603" y="249582"/>
                  </a:cubicBezTo>
                  <a:lnTo>
                    <a:pt x="6367603" y="822456"/>
                  </a:lnTo>
                  <a:cubicBezTo>
                    <a:pt x="6367603" y="888649"/>
                    <a:pt x="6341308" y="952131"/>
                    <a:pt x="6294503" y="998937"/>
                  </a:cubicBezTo>
                  <a:cubicBezTo>
                    <a:pt x="6247697" y="1045743"/>
                    <a:pt x="6184215" y="1072038"/>
                    <a:pt x="6118022" y="1072038"/>
                  </a:cubicBezTo>
                  <a:lnTo>
                    <a:pt x="249582" y="1072038"/>
                  </a:lnTo>
                  <a:cubicBezTo>
                    <a:pt x="111742" y="1072038"/>
                    <a:pt x="0" y="960296"/>
                    <a:pt x="0" y="822456"/>
                  </a:cubicBezTo>
                  <a:lnTo>
                    <a:pt x="0" y="249582"/>
                  </a:lnTo>
                  <a:cubicBezTo>
                    <a:pt x="0" y="183388"/>
                    <a:pt x="26295" y="119906"/>
                    <a:pt x="73101" y="73101"/>
                  </a:cubicBezTo>
                  <a:cubicBezTo>
                    <a:pt x="119906" y="26295"/>
                    <a:pt x="183388" y="0"/>
                    <a:pt x="2495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000"/>
                  </a:srgbClr>
                </a:gs>
                <a:gs pos="100000">
                  <a:srgbClr val="FFFFFF">
                    <a:alpha val="15000"/>
                  </a:srgbClr>
                </a:gs>
              </a:gsLst>
              <a:lin ang="0"/>
            </a:gradFill>
            <a:ln w="9525" cap="rnd">
              <a:solidFill>
                <a:srgbClr val="ECECEC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367603" cy="106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29564" y="744208"/>
            <a:ext cx="2483242" cy="776749"/>
          </a:xfrm>
          <a:custGeom>
            <a:avLst/>
            <a:gdLst/>
            <a:ahLst/>
            <a:cxnLst/>
            <a:rect r="r" b="b" t="t" l="l"/>
            <a:pathLst>
              <a:path h="776749" w="2483242">
                <a:moveTo>
                  <a:pt x="0" y="0"/>
                </a:moveTo>
                <a:lnTo>
                  <a:pt x="2483242" y="0"/>
                </a:lnTo>
                <a:lnTo>
                  <a:pt x="2483242" y="776748"/>
                </a:lnTo>
                <a:lnTo>
                  <a:pt x="0" y="776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0" y="7877639"/>
            <a:ext cx="1828800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cover_title" id="18"/>
          <p:cNvSpPr txBox="true"/>
          <p:nvPr/>
        </p:nvSpPr>
        <p:spPr>
          <a:xfrm rot="0">
            <a:off x="929564" y="8074152"/>
            <a:ext cx="8138160" cy="152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Electroforming</a:t>
            </a:r>
          </a:p>
          <a:p>
            <a:pPr algn="l" marL="0" indent="0" lvl="1">
              <a:lnSpc>
                <a:spcPts val="5645"/>
              </a:lnSpc>
            </a:pPr>
            <a:r>
              <a:rPr lang="en-US" b="true" sz="5535" spc="-276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Console</a:t>
            </a:r>
            <a:r>
              <a:rPr lang="en-US" b="true" sz="5535" spc="-276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name="cover_qr_url" id="19"/>
          <p:cNvSpPr txBox="true"/>
          <p:nvPr/>
        </p:nvSpPr>
        <p:spPr>
          <a:xfrm rot="0">
            <a:off x="13889694" y="9378900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www.wit.id</a:t>
            </a:r>
          </a:p>
        </p:txBody>
      </p:sp>
      <p:sp>
        <p:nvSpPr>
          <p:cNvPr name="cover_qr_l1" id="20"/>
          <p:cNvSpPr txBox="true"/>
          <p:nvPr/>
        </p:nvSpPr>
        <p:spPr>
          <a:xfrm rot="0">
            <a:off x="13889694" y="8304484"/>
            <a:ext cx="1463582" cy="220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63"/>
              </a:lnSpc>
              <a:spcBef>
                <a:spcPct val="0"/>
              </a:spcBef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Scan QR Code</a:t>
            </a:r>
          </a:p>
        </p:txBody>
      </p:sp>
      <p:sp>
        <p:nvSpPr>
          <p:cNvPr name="cover_qr_l2" id="21"/>
          <p:cNvSpPr txBox="true"/>
          <p:nvPr/>
        </p:nvSpPr>
        <p:spPr>
          <a:xfrm rot="0">
            <a:off x="13889694" y="8537389"/>
            <a:ext cx="1463582" cy="52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3"/>
              </a:lnSpc>
            </a:pPr>
            <a:r>
              <a:rPr lang="en-US" sz="1563" spc="-7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to see more detail.</a:t>
            </a:r>
          </a:p>
        </p:txBody>
      </p:sp>
      <p:sp>
        <p:nvSpPr>
          <p:cNvPr name="cover_badge" id="22"/>
          <p:cNvSpPr txBox="true"/>
          <p:nvPr/>
        </p:nvSpPr>
        <p:spPr>
          <a:xfrm rot="0">
            <a:off x="1105954" y="6929507"/>
            <a:ext cx="3646849" cy="31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  <a:spcBef>
                <a:spcPct val="0"/>
              </a:spcBef>
            </a:pPr>
            <a:r>
              <a:rPr lang="en-US" b="true" sz="1818" spc="18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 xml:space="preserve">Bak 1 SCADA trial </a:t>
            </a:r>
            <a:r>
              <a:rPr lang="en-US" sz="1818" spc="1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October 2026</a:t>
            </a:r>
          </a:p>
        </p:txBody>
      </p:sp>
      <p:sp>
        <p:nvSpPr>
          <p:cNvPr name="cover_strap" id="23"/>
          <p:cNvSpPr txBox="true"/>
          <p:nvPr/>
        </p:nvSpPr>
        <p:spPr>
          <a:xfrm rot="0">
            <a:off x="11983670" y="739420"/>
            <a:ext cx="5275630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Make IT Happen</a:t>
            </a:r>
          </a:p>
        </p:txBody>
      </p:sp>
      <p:sp>
        <p:nvSpPr>
          <p:cNvPr name="cover_tagline" id="24"/>
          <p:cNvSpPr txBox="true"/>
          <p:nvPr/>
        </p:nvSpPr>
        <p:spPr>
          <a:xfrm rot="0">
            <a:off x="9234159" y="739420"/>
            <a:ext cx="513406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99"/>
              </a:lnSpc>
              <a:spcBef>
                <a:spcPct val="0"/>
              </a:spcBef>
            </a:pPr>
            <a:r>
              <a:rPr lang="en-US" sz="1799" spc="-8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360° Digital Transformation Culture Company</a:t>
            </a:r>
          </a:p>
        </p:txBody>
      </p:sp>
      <p:sp>
        <p:nvSpPr>
          <p:cNvPr name="cover_notice1" id="25"/>
          <p:cNvSpPr txBox="true"/>
          <p:nvPr/>
        </p:nvSpPr>
        <p:spPr>
          <a:xfrm rot="0">
            <a:off x="9234159" y="8247334"/>
            <a:ext cx="3177434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This document only applies to your collaboration with WIT.ID</a:t>
            </a:r>
          </a:p>
        </p:txBody>
      </p:sp>
      <p:sp>
        <p:nvSpPr>
          <p:cNvPr name="cover_notice2" id="26"/>
          <p:cNvSpPr txBox="true"/>
          <p:nvPr/>
        </p:nvSpPr>
        <p:spPr>
          <a:xfrm rot="0">
            <a:off x="9234159" y="9066917"/>
            <a:ext cx="3931636" cy="50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3"/>
              </a:lnSpc>
              <a:spcBef>
                <a:spcPct val="0"/>
              </a:spcBef>
            </a:pPr>
            <a:r>
              <a:rPr lang="en-US" sz="1437" spc="14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please do not spread and use it for things outside of this collaboration.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202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0" y="-3066150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18288000" y="0"/>
                </a:moveTo>
                <a:lnTo>
                  <a:pt x="0" y="0"/>
                </a:lnTo>
                <a:lnTo>
                  <a:pt x="0" y="18333834"/>
                </a:lnTo>
                <a:lnTo>
                  <a:pt x="18288000" y="18333834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77416" y="-6402805"/>
            <a:ext cx="19840761" cy="19840761"/>
          </a:xfrm>
          <a:custGeom>
            <a:avLst/>
            <a:gdLst/>
            <a:ahLst/>
            <a:cxnLst/>
            <a:rect r="r" b="b" t="t" l="l"/>
            <a:pathLst>
              <a:path h="19840761" w="19840761">
                <a:moveTo>
                  <a:pt x="0" y="0"/>
                </a:moveTo>
                <a:lnTo>
                  <a:pt x="19840761" y="0"/>
                </a:lnTo>
                <a:lnTo>
                  <a:pt x="19840761" y="19840761"/>
                </a:lnTo>
                <a:lnTo>
                  <a:pt x="0" y="198407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243712" y="3908100"/>
            <a:ext cx="14842406" cy="14842406"/>
          </a:xfrm>
          <a:custGeom>
            <a:avLst/>
            <a:gdLst/>
            <a:ahLst/>
            <a:cxnLst/>
            <a:rect r="r" b="b" t="t" l="l"/>
            <a:pathLst>
              <a:path h="14842406" w="14842406">
                <a:moveTo>
                  <a:pt x="0" y="0"/>
                </a:moveTo>
                <a:lnTo>
                  <a:pt x="14842406" y="0"/>
                </a:lnTo>
                <a:lnTo>
                  <a:pt x="14842406" y="14842406"/>
                </a:lnTo>
                <a:lnTo>
                  <a:pt x="0" y="148424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10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pc="18">
                  <a:solidFill>
                    <a:srgbClr val="FFFFFF"/>
                  </a:solidFill>
                  <a:latin typeface="General Sans 2 Medium"/>
                  <a:ea typeface="General Sans 2 Medium"/>
                  <a:cs typeface="General Sans 2 Medium"/>
                  <a:sym typeface="General Sans 2 Medium"/>
                </a:rPr>
                <a:t>Summary</a:t>
              </a:r>
            </a:p>
          </p:txBody>
        </p:sp>
      </p:grpSp>
      <p:sp>
        <p:nvSpPr>
          <p:cNvPr name="agenda_circle" id="40"/>
          <p:cNvSpPr/>
          <p:nvPr/>
        </p:nvSpPr>
        <p:spPr>
          <a:xfrm flipH="false" flipV="false" rot="0">
            <a:off x="7955279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4"/>
          <p:cNvSpPr/>
          <p:nvPr/>
        </p:nvSpPr>
        <p:spPr>
          <a:xfrm flipH="false" flipV="false" rot="0">
            <a:off x="11311128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48"/>
          <p:cNvSpPr/>
          <p:nvPr/>
        </p:nvSpPr>
        <p:spPr>
          <a:xfrm flipH="false" flipV="false" rot="0">
            <a:off x="14676120" y="1463040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52"/>
          <p:cNvSpPr/>
          <p:nvPr/>
        </p:nvSpPr>
        <p:spPr>
          <a:xfrm flipH="false" flipV="false" rot="0">
            <a:off x="7955279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56"/>
          <p:cNvSpPr/>
          <p:nvPr/>
        </p:nvSpPr>
        <p:spPr>
          <a:xfrm flipH="false" flipV="false" rot="0">
            <a:off x="11311128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genda_circle" id="60"/>
          <p:cNvSpPr/>
          <p:nvPr/>
        </p:nvSpPr>
        <p:spPr>
          <a:xfrm flipH="false" flipV="false" rot="0">
            <a:off x="14676120" y="4553712"/>
            <a:ext cx="3074436" cy="3089885"/>
          </a:xfrm>
          <a:custGeom>
            <a:avLst/>
            <a:gdLst/>
            <a:ahLst/>
            <a:cxnLst/>
            <a:rect r="r" b="b" t="t" l="l"/>
            <a:pathLst>
              <a:path h="3089885" w="3074436">
                <a:moveTo>
                  <a:pt x="0" y="0"/>
                </a:moveTo>
                <a:lnTo>
                  <a:pt x="3074436" y="0"/>
                </a:lnTo>
                <a:lnTo>
                  <a:pt x="3074436" y="3089885"/>
                </a:lnTo>
                <a:lnTo>
                  <a:pt x="0" y="308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tr_left" id="20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sp>
        <p:nvSpPr>
          <p:cNvPr name="agenda_title" id="22"/>
          <p:cNvSpPr txBox="true"/>
          <p:nvPr/>
        </p:nvSpPr>
        <p:spPr>
          <a:xfrm rot="0">
            <a:off x="942844" y="1640025"/>
            <a:ext cx="6035040" cy="172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b="true" sz="4360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WHAT THIS</a:t>
            </a:r>
          </a:p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b="true" sz="4360" spc="-2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DECK COVERS</a:t>
            </a:r>
            <a:r>
              <a:rPr lang="en-US" b="true" sz="4360" spc="-2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name="agenda_intro" id="37"/>
          <p:cNvSpPr txBox="true"/>
          <p:nvPr/>
        </p:nvSpPr>
        <p:spPr>
          <a:xfrm rot="0">
            <a:off x="929564" y="6370534"/>
            <a:ext cx="5450144" cy="101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b="true" sz="2100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Electroforming Console</a:t>
            </a:r>
          </a:p>
          <a:p>
            <a:pPr algn="l">
              <a:lnSpc>
                <a:spcPts val="3024"/>
              </a:lnSpc>
            </a:pPr>
            <a:r>
              <a:rPr lang="en-US" sz="1725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What the app does today, and the device that will send it live data.</a:t>
            </a:r>
          </a:p>
        </p:txBody>
      </p:sp>
      <p:sp>
        <p:nvSpPr>
          <p:cNvPr name="agenda_hashtag" id="39"/>
          <p:cNvSpPr txBox="true"/>
          <p:nvPr/>
        </p:nvSpPr>
        <p:spPr>
          <a:xfrm rot="0">
            <a:off x="15355044" y="8412107"/>
            <a:ext cx="1904256" cy="383667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3024"/>
              </a:lnSpc>
            </a:pPr>
            <a:r>
              <a:rPr lang="en-US" sz="2100" b="true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#MakeITHappen</a:t>
            </a:r>
          </a:p>
        </p:txBody>
      </p:sp>
      <p:sp>
        <p:nvSpPr>
          <p:cNvPr id="41" name="Agenda label 41"/>
          <p:cNvSpPr txBox="1"/>
          <p:nvPr/>
        </p:nvSpPr>
        <p:spPr>
          <a:xfrm>
            <a:off x="8302751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WHY.</a:t>
            </a:r>
          </a:p>
        </p:txBody>
      </p:sp>
      <p:sp>
        <p:nvSpPr>
          <p:cNvPr id="42" name="Agenda desc 42"/>
          <p:cNvSpPr txBox="1"/>
          <p:nvPr/>
        </p:nvSpPr>
        <p:spPr>
          <a:xfrm>
            <a:off x="8348471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Two Excel files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become one app</a:t>
            </a:r>
          </a:p>
        </p:txBody>
      </p:sp>
      <p:sp>
        <p:nvSpPr>
          <p:cNvPr id="43" name="Agenda ref 43"/>
          <p:cNvSpPr txBox="1"/>
          <p:nvPr/>
        </p:nvSpPr>
        <p:spPr>
          <a:xfrm>
            <a:off x="8439911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 3</a:t>
            </a:r>
          </a:p>
        </p:txBody>
      </p:sp>
      <p:sp>
        <p:nvSpPr>
          <p:cNvPr id="45" name="Agenda label 45"/>
          <p:cNvSpPr txBox="1"/>
          <p:nvPr/>
        </p:nvSpPr>
        <p:spPr>
          <a:xfrm>
            <a:off x="11658599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STEPS.</a:t>
            </a:r>
          </a:p>
        </p:txBody>
      </p:sp>
      <p:sp>
        <p:nvSpPr>
          <p:cNvPr id="46" name="Agenda desc 46"/>
          <p:cNvSpPr txBox="1"/>
          <p:nvPr/>
        </p:nvSpPr>
        <p:spPr>
          <a:xfrm>
            <a:off x="11704319" y="26426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How one batch runs</a:t>
            </a:r>
          </a:p>
        </p:txBody>
      </p:sp>
      <p:sp>
        <p:nvSpPr>
          <p:cNvPr id="47" name="Agenda ref 47"/>
          <p:cNvSpPr txBox="1"/>
          <p:nvPr/>
        </p:nvSpPr>
        <p:spPr>
          <a:xfrm>
            <a:off x="11795759" y="29809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4–5</a:t>
            </a:r>
          </a:p>
        </p:txBody>
      </p:sp>
      <p:sp>
        <p:nvSpPr>
          <p:cNvPr id="49" name="Agenda label 49"/>
          <p:cNvSpPr txBox="1"/>
          <p:nvPr/>
        </p:nvSpPr>
        <p:spPr>
          <a:xfrm>
            <a:off x="15023592" y="21671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LOG.</a:t>
            </a:r>
          </a:p>
        </p:txBody>
      </p:sp>
      <p:sp>
        <p:nvSpPr>
          <p:cNvPr id="50" name="Agenda desc 50"/>
          <p:cNvSpPr txBox="1"/>
          <p:nvPr/>
        </p:nvSpPr>
        <p:spPr>
          <a:xfrm>
            <a:off x="15069312" y="26426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Recording the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tank every hour</a:t>
            </a:r>
          </a:p>
        </p:txBody>
      </p:sp>
      <p:sp>
        <p:nvSpPr>
          <p:cNvPr id="51" name="Agenda ref 51"/>
          <p:cNvSpPr txBox="1"/>
          <p:nvPr/>
        </p:nvSpPr>
        <p:spPr>
          <a:xfrm>
            <a:off x="15160752" y="3209544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6–8</a:t>
            </a:r>
          </a:p>
        </p:txBody>
      </p:sp>
      <p:sp>
        <p:nvSpPr>
          <p:cNvPr id="53" name="Agenda label 53"/>
          <p:cNvSpPr txBox="1"/>
          <p:nvPr/>
        </p:nvSpPr>
        <p:spPr>
          <a:xfrm>
            <a:off x="8302751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3D.</a:t>
            </a:r>
          </a:p>
        </p:txBody>
      </p:sp>
      <p:sp>
        <p:nvSpPr>
          <p:cNvPr id="54" name="Agenda desc 54"/>
          <p:cNvSpPr txBox="1"/>
          <p:nvPr/>
        </p:nvSpPr>
        <p:spPr>
          <a:xfrm>
            <a:off x="8348471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See the rack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and the room</a:t>
            </a:r>
          </a:p>
        </p:txBody>
      </p:sp>
      <p:sp>
        <p:nvSpPr>
          <p:cNvPr id="55" name="Agenda ref 55"/>
          <p:cNvSpPr txBox="1"/>
          <p:nvPr/>
        </p:nvSpPr>
        <p:spPr>
          <a:xfrm>
            <a:off x="8439911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9–10</a:t>
            </a:r>
          </a:p>
        </p:txBody>
      </p:sp>
      <p:sp>
        <p:nvSpPr>
          <p:cNvPr id="57" name="Agenda label 57"/>
          <p:cNvSpPr txBox="1"/>
          <p:nvPr/>
        </p:nvSpPr>
        <p:spPr>
          <a:xfrm>
            <a:off x="11658599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REPORTS.</a:t>
            </a:r>
          </a:p>
        </p:txBody>
      </p:sp>
      <p:sp>
        <p:nvSpPr>
          <p:cNvPr id="58" name="Agenda desc 58"/>
          <p:cNvSpPr txBox="1"/>
          <p:nvPr/>
        </p:nvSpPr>
        <p:spPr>
          <a:xfrm>
            <a:off x="11704319" y="573328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Ten reports, checked</a:t>
            </a:r>
          </a:p>
        </p:txBody>
      </p:sp>
      <p:sp>
        <p:nvSpPr>
          <p:cNvPr id="59" name="Agenda ref 59"/>
          <p:cNvSpPr txBox="1"/>
          <p:nvPr/>
        </p:nvSpPr>
        <p:spPr>
          <a:xfrm>
            <a:off x="11795759" y="60716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11–12</a:t>
            </a:r>
          </a:p>
        </p:txBody>
      </p:sp>
      <p:sp>
        <p:nvSpPr>
          <p:cNvPr id="61" name="Agenda label 61"/>
          <p:cNvSpPr txBox="1"/>
          <p:nvPr/>
        </p:nvSpPr>
        <p:spPr>
          <a:xfrm>
            <a:off x="15023592" y="52578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ts val="2600"/>
              </a:lnSpc>
            </a:pPr>
            <a:r>
              <a:rPr lang="en-US" sz="2300" b="1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DEVICE.</a:t>
            </a:r>
          </a:p>
        </p:txBody>
      </p:sp>
      <p:sp>
        <p:nvSpPr>
          <p:cNvPr id="62" name="Agenda desc 62"/>
          <p:cNvSpPr txBox="1"/>
          <p:nvPr/>
        </p:nvSpPr>
        <p:spPr>
          <a:xfrm>
            <a:off x="15069312" y="573328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The sensor box</a:t>
            </a:r>
          </a:p>
          <a:p>
            <a:pPr algn="ctr">
              <a:lnSpc>
                <a:spcPts val="1800"/>
              </a:lnSpc>
            </a:pPr>
            <a:r>
              <a:rPr lang="en-US" sz="135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that sends data</a:t>
            </a:r>
          </a:p>
        </p:txBody>
      </p:sp>
      <p:sp>
        <p:nvSpPr>
          <p:cNvPr id="63" name="Agenda ref 63"/>
          <p:cNvSpPr txBox="1"/>
          <p:nvPr/>
        </p:nvSpPr>
        <p:spPr>
          <a:xfrm>
            <a:off x="15160752" y="630021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1400"/>
              </a:lnSpc>
            </a:pPr>
            <a:r>
              <a:rPr lang="en-US" sz="11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SLIDES 13–17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WHY. What the app replaces</a:t>
              </a:r>
            </a:p>
          </p:txBody>
        </p:sp>
      </p:grpSp>
      <p:pic>
        <p:nvPicPr>
          <p:cNvPr id="56" name="Art manufacturing" descr="manufactur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02920" y="2150364"/>
            <a:ext cx="9418320" cy="6278880"/>
          </a:xfrm>
          <a:prstGeom prst="rect">
            <a:avLst/>
          </a:prstGeom>
        </p:spPr>
      </p:pic>
      <p:sp>
        <p:nvSpPr>
          <p:cNvPr id="57" name="Title 57"/>
          <p:cNvSpPr txBox="1"/>
          <p:nvPr/>
        </p:nvSpPr>
        <p:spPr>
          <a:xfrm>
            <a:off x="9144000" y="1243584"/>
            <a:ext cx="8202168" cy="13124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Two Excel files,</a:t>
            </a:r>
          </a:p>
          <a:p>
            <a:pPr algn="l">
              <a:lnSpc>
                <a:spcPts val="4807"/>
              </a:lnSpc>
            </a:pPr>
            <a:r>
              <a:rPr lang="en-US" sz="418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now one app</a:t>
            </a:r>
            <a:r>
              <a:rPr lang="en-US" sz="418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8" name="Card 58"/>
          <p:cNvSpPr/>
          <p:nvPr/>
        </p:nvSpPr>
        <p:spPr>
          <a:xfrm>
            <a:off x="9144000" y="3237864"/>
            <a:ext cx="8202168" cy="2444496"/>
          </a:xfrm>
          <a:prstGeom prst="roundRect">
            <a:avLst>
              <a:gd name="adj" fmla="val 3740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9" name="Card head 59"/>
          <p:cNvSpPr txBox="1"/>
          <p:nvPr/>
        </p:nvSpPr>
        <p:spPr>
          <a:xfrm>
            <a:off x="9509760" y="3539617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File 1: the batch log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180458"/>
            <a:ext cx="175260" cy="175260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9867900" y="4124832"/>
            <a:ext cx="6543507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One sheet per batch: time, volt, ampere, meter reading, gold %, plate thickness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4799202"/>
            <a:ext cx="175260" cy="175260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9867900" y="4743577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Works out how thick the gold is and how fast it grows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5158867"/>
            <a:ext cx="175260" cy="175260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9867900" y="5103241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Tells the operator to raise, lower or keep the volt</a:t>
            </a:r>
          </a:p>
        </p:txBody>
      </p:sp>
      <p:sp>
        <p:nvSpPr>
          <p:cNvPr id="66" name="Card 66"/>
          <p:cNvSpPr/>
          <p:nvPr/>
        </p:nvSpPr>
        <p:spPr>
          <a:xfrm>
            <a:off x="9144000" y="5910960"/>
            <a:ext cx="8202168" cy="2185416"/>
          </a:xfrm>
          <a:prstGeom prst="roundRect">
            <a:avLst>
              <a:gd name="adj" fmla="val 4184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7" name="Card head 67"/>
          <p:cNvSpPr txBox="1"/>
          <p:nvPr/>
        </p:nvSpPr>
        <p:spPr>
          <a:xfrm>
            <a:off x="9509760" y="6212712"/>
            <a:ext cx="7470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21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File 2: the surface-area list</a:t>
            </a:r>
          </a:p>
        </p:txBody>
      </p:sp>
      <p:pic>
        <p:nvPicPr>
          <p:cNvPr id="68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6853554"/>
            <a:ext cx="175260" cy="175260"/>
          </a:xfrm>
          <a:prstGeom prst="rect">
            <a:avLst/>
          </a:prstGeom>
        </p:spPr>
      </p:pic>
      <p:sp>
        <p:nvSpPr>
          <p:cNvPr id="69" name="Bullet 69"/>
          <p:cNvSpPr txBox="1"/>
          <p:nvPr/>
        </p:nvSpPr>
        <p:spPr>
          <a:xfrm>
            <a:off x="9867900" y="6797928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Surface area of every product model</a:t>
            </a:r>
          </a:p>
        </p:txBody>
      </p:sp>
      <p:pic>
        <p:nvPicPr>
          <p:cNvPr id="7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213218"/>
            <a:ext cx="175260" cy="175260"/>
          </a:xfrm>
          <a:prstGeom prst="rect">
            <a:avLst/>
          </a:prstGeom>
        </p:spPr>
      </p:pic>
      <p:sp>
        <p:nvSpPr>
          <p:cNvPr id="71" name="Bullet 71"/>
          <p:cNvSpPr txBox="1"/>
          <p:nvPr/>
        </p:nvSpPr>
        <p:spPr>
          <a:xfrm>
            <a:off x="9867900" y="7157592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How much gold and chemicals each rack load needs</a:t>
            </a:r>
          </a:p>
        </p:txBody>
      </p:sp>
      <p:pic>
        <p:nvPicPr>
          <p:cNvPr id="72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7572882"/>
            <a:ext cx="175260" cy="175260"/>
          </a:xfrm>
          <a:prstGeom prst="rect">
            <a:avLst/>
          </a:prstGeom>
        </p:spPr>
      </p:pic>
      <p:sp>
        <p:nvSpPr>
          <p:cNvPr id="73" name="Bullet 73"/>
          <p:cNvSpPr txBox="1"/>
          <p:nvPr/>
        </p:nvSpPr>
        <p:spPr>
          <a:xfrm>
            <a:off x="9867900" y="7517256"/>
            <a:ext cx="7112508" cy="295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5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Tank chemistry, top-ups, cleaning tanks and the gold salt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STEPS. One batch, three steps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batch goes through three steps on one page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903220"/>
            <a:ext cx="5316321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ep no 58"/>
          <p:cNvSpPr txBox="1"/>
          <p:nvPr/>
        </p:nvSpPr>
        <p:spPr>
          <a:xfrm>
            <a:off x="1225296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01</a:t>
            </a:r>
          </a:p>
        </p:txBody>
      </p:sp>
      <p:sp>
        <p:nvSpPr>
          <p:cNvPr id="59" name="Step title 59"/>
          <p:cNvSpPr txBox="1"/>
          <p:nvPr/>
        </p:nvSpPr>
        <p:spPr>
          <a:xfrm>
            <a:off x="1225296" y="4274820"/>
            <a:ext cx="485912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Prepare</a:t>
            </a:r>
          </a:p>
        </p:txBody>
      </p:sp>
      <p:sp>
        <p:nvSpPr>
          <p:cNvPr id="60" name="Step desc 60"/>
          <p:cNvSpPr txBox="1"/>
          <p:nvPr/>
        </p:nvSpPr>
        <p:spPr>
          <a:xfrm>
            <a:off x="1225296" y="4777740"/>
            <a:ext cx="4731105" cy="592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Hang the products on the rack and enter the lab results</a:t>
            </a:r>
          </a:p>
        </p:txBody>
      </p:sp>
      <p:sp>
        <p:nvSpPr>
          <p:cNvPr id="61" name="Card 61"/>
          <p:cNvSpPr/>
          <p:nvPr/>
        </p:nvSpPr>
        <p:spPr>
          <a:xfrm>
            <a:off x="6481267" y="2903220"/>
            <a:ext cx="5316321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2" name="Step no 62"/>
          <p:cNvSpPr txBox="1"/>
          <p:nvPr/>
        </p:nvSpPr>
        <p:spPr>
          <a:xfrm>
            <a:off x="6773875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02</a:t>
            </a:r>
          </a:p>
        </p:txBody>
      </p:sp>
      <p:sp>
        <p:nvSpPr>
          <p:cNvPr id="63" name="Step title 63"/>
          <p:cNvSpPr txBox="1"/>
          <p:nvPr/>
        </p:nvSpPr>
        <p:spPr>
          <a:xfrm>
            <a:off x="6773875" y="4274820"/>
            <a:ext cx="485912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Record</a:t>
            </a:r>
          </a:p>
        </p:txBody>
      </p:sp>
      <p:sp>
        <p:nvSpPr>
          <p:cNvPr id="64" name="Step desc 64"/>
          <p:cNvSpPr txBox="1"/>
          <p:nvPr/>
        </p:nvSpPr>
        <p:spPr>
          <a:xfrm>
            <a:off x="6773875" y="4777740"/>
            <a:ext cx="4731105" cy="5929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Every 1–2 hours, record pH, temperature, volt and current</a:t>
            </a:r>
          </a:p>
        </p:txBody>
      </p:sp>
      <p:sp>
        <p:nvSpPr>
          <p:cNvPr id="65" name="Card 65"/>
          <p:cNvSpPr/>
          <p:nvPr/>
        </p:nvSpPr>
        <p:spPr>
          <a:xfrm>
            <a:off x="12029846" y="2903220"/>
            <a:ext cx="5316321" cy="3566160"/>
          </a:xfrm>
          <a:prstGeom prst="roundRect">
            <a:avLst>
              <a:gd name="adj" fmla="val 2564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6" name="Step no 66"/>
          <p:cNvSpPr txBox="1"/>
          <p:nvPr/>
        </p:nvSpPr>
        <p:spPr>
          <a:xfrm>
            <a:off x="12322454" y="31958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800"/>
              </a:lnSpc>
            </a:pPr>
            <a:r>
              <a:rPr lang="en-US" sz="460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03</a:t>
            </a:r>
          </a:p>
        </p:txBody>
      </p:sp>
      <p:sp>
        <p:nvSpPr>
          <p:cNvPr id="67" name="Step title 67"/>
          <p:cNvSpPr txBox="1"/>
          <p:nvPr/>
        </p:nvSpPr>
        <p:spPr>
          <a:xfrm>
            <a:off x="12322454" y="4274820"/>
            <a:ext cx="4859121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3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Finish</a:t>
            </a:r>
          </a:p>
        </p:txBody>
      </p:sp>
      <p:sp>
        <p:nvSpPr>
          <p:cNvPr id="68" name="Step desc 68"/>
          <p:cNvSpPr txBox="1"/>
          <p:nvPr/>
        </p:nvSpPr>
        <p:spPr>
          <a:xfrm>
            <a:off x="12322454" y="4777740"/>
            <a:ext cx="4731105" cy="3193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54"/>
              </a:lnSpc>
            </a:pPr>
            <a:r>
              <a:rPr lang="en-US" sz="155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Weigh the products and enter the final gold test</a:t>
            </a:r>
          </a:p>
        </p:txBody>
      </p:sp>
      <p:sp>
        <p:nvSpPr>
          <p:cNvPr id="69" name="Arrow dot 69"/>
          <p:cNvSpPr/>
          <p:nvPr/>
        </p:nvSpPr>
        <p:spPr>
          <a:xfrm>
            <a:off x="6173114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0" name="Arrow 70"/>
          <p:cNvSpPr/>
          <p:nvPr/>
        </p:nvSpPr>
        <p:spPr>
          <a:xfrm>
            <a:off x="6287414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1" name="Arrow dot 71"/>
          <p:cNvSpPr/>
          <p:nvPr/>
        </p:nvSpPr>
        <p:spPr>
          <a:xfrm>
            <a:off x="11721693" y="337870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</p:spPr>
      </p:sp>
      <p:sp>
        <p:nvSpPr>
          <p:cNvPr id="72" name="Arrow 72"/>
          <p:cNvSpPr/>
          <p:nvPr/>
        </p:nvSpPr>
        <p:spPr>
          <a:xfrm>
            <a:off x="11835993" y="3493008"/>
            <a:ext cx="155448" cy="155448"/>
          </a:xfrm>
          <a:prstGeom prst="chevron">
            <a:avLst>
              <a:gd name="adj" fmla="val 5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3" name="Callout 73"/>
          <p:cNvSpPr/>
          <p:nvPr/>
        </p:nvSpPr>
        <p:spPr>
          <a:xfrm>
            <a:off x="932688" y="6789420"/>
            <a:ext cx="16413480" cy="1234440"/>
          </a:xfrm>
          <a:prstGeom prst="roundRect">
            <a:avLst>
              <a:gd name="adj" fmla="val 7407"/>
            </a:avLst>
          </a:prstGeom>
          <a:solidFill>
            <a:srgbClr val="000000">
              <a:alpha val="35294"/>
            </a:srgbClr>
          </a:soli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  <p:txBody>
          <a:bodyPr wrap="square" lIns="502920" tIns="0" rIns="502920" bIns="0" anchor="ctr" rtlCol="0">
            <a:noAutofit/>
          </a:bodyPr>
          <a:lstStyle/>
          <a:p>
            <a:pPr algn="l">
              <a:lnSpc>
                <a:spcPts val="2600"/>
              </a:lnSpc>
            </a:pPr>
            <a:r>
              <a:rPr lang="en-US" sz="18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One clear next step. </a:t>
            </a:r>
            <a:r>
              <a:rPr lang="en-US" sz="1800">
                <a:solidFill>
                  <a:srgbClr val="FFFFFF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The home page tells the operator what each tank needs right now.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STEPS. Home page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home page shows what each tank needs now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026408"/>
            <a:ext cx="98637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Tank 1</a:t>
            </a:r>
          </a:p>
        </p:txBody>
      </p:sp>
      <p:sp>
        <p:nvSpPr>
          <p:cNvPr id="59" name="Tag 59"/>
          <p:cNvSpPr/>
          <p:nvPr/>
        </p:nvSpPr>
        <p:spPr>
          <a:xfrm>
            <a:off x="2550002" y="4026408"/>
            <a:ext cx="101923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Tank 2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962651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4904232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yellow banner lists the batches that need attention, and why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1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tank card shows gold thickness against target, pH, volt and temperature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506971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448551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One button on the card opens the reading form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7002779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944359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short summary points out patterns in the data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dashboar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6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LOG. Tank condition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app reminds the operator when to record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698952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Every 1–2 hours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0" name="Bullet 60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Shows the latest pH, volt, temperature and when they were recorded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538216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Turns to "time to record" after 1 hour and "late" after 2 hours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form fills in the current time and suggests a volt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806184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pH and temperature limits are samples until the plant sets its own</a:t>
            </a:r>
          </a:p>
        </p:txBody>
      </p:sp>
      <p:sp>
        <p:nvSpPr>
          <p:cNvPr id="67" name="Screen bezel 67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8" name="Screenshot" descr="batch-lo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LOG. Hour by hour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log shows one row for every hour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3888232"/>
            <a:ext cx="154970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Click to open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4824476"/>
            <a:ext cx="186944" cy="186944"/>
          </a:xfrm>
          <a:prstGeom prst="rect">
            <a:avLst/>
          </a:prstGeom>
        </p:spPr>
      </p:pic>
      <p:sp>
        <p:nvSpPr>
          <p:cNvPr id="60" name="Bullet 60"/>
          <p:cNvSpPr txBox="1"/>
          <p:nvPr/>
        </p:nvSpPr>
        <p:spPr>
          <a:xfrm>
            <a:off x="1787144" y="476605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row shows the readings of that hour and how much the gold grew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596635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538216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Hours with no reading stay in the list, marked "late" after 2 hours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6310376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For a running batch, the list continues up to now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806184"/>
            <a:ext cx="539471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an hour to see its readings; a switch shows the full list</a:t>
            </a:r>
          </a:p>
        </p:txBody>
      </p:sp>
      <p:sp>
        <p:nvSpPr>
          <p:cNvPr id="67" name="Screen bezel 67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8" name="Screenshot" descr="log-hou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8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LOG. One reading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Open a reading to see every number behind it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164583"/>
            <a:ext cx="1962596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Hour, then reading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100827"/>
            <a:ext cx="186944" cy="186944"/>
          </a:xfrm>
          <a:prstGeom prst="rect">
            <a:avLst/>
          </a:prstGeom>
        </p:spPr>
      </p:pic>
      <p:sp>
        <p:nvSpPr>
          <p:cNvPr id="60" name="Bullet 60"/>
          <p:cNvSpPr txBox="1"/>
          <p:nvPr/>
        </p:nvSpPr>
        <p:spPr>
          <a:xfrm>
            <a:off x="1787144" y="5042408"/>
            <a:ext cx="561949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Numbers are grouped like the Excel file: tank, machine, gold %, thickness, volt tip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872987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814567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Previous and next buttons move through the log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631037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While the batch runs, a reading can be edited or deleted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806183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help page explains every formula and its Excel cell</a:t>
            </a:r>
          </a:p>
        </p:txBody>
      </p:sp>
      <p:sp>
        <p:nvSpPr>
          <p:cNvPr id="67" name="Screen bezel 67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8" name="Screenshot" descr="log-read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3D. Rack view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rack turns from grey to gold as plating goes on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302760"/>
            <a:ext cx="72736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3D</a:t>
            </a:r>
          </a:p>
        </p:txBody>
      </p:sp>
      <p:sp>
        <p:nvSpPr>
          <p:cNvPr id="59" name="Tag 59"/>
          <p:cNvSpPr/>
          <p:nvPr/>
        </p:nvSpPr>
        <p:spPr>
          <a:xfrm>
            <a:off x="2290988" y="4302760"/>
            <a:ext cx="138180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Each batch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39003"/>
            <a:ext cx="186944" cy="186944"/>
          </a:xfrm>
          <a:prstGeom prst="rect">
            <a:avLst/>
          </a:prstGeom>
        </p:spPr>
      </p:pic>
      <p:sp>
        <p:nvSpPr>
          <p:cNvPr id="61" name="Bullet 61"/>
          <p:cNvSpPr txBox="1"/>
          <p:nvPr/>
        </p:nvSpPr>
        <p:spPr>
          <a:xfrm>
            <a:off x="1787144" y="5180584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Shows every product hanging on the rack</a:t>
            </a:r>
          </a:p>
        </p:txBody>
      </p:sp>
      <p:pic>
        <p:nvPicPr>
          <p:cNvPr id="62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2"/>
            <a:ext cx="186944" cy="186944"/>
          </a:xfrm>
          <a:prstGeom prst="rect">
            <a:avLst/>
          </a:prstGeom>
        </p:spPr>
      </p:pic>
      <p:sp>
        <p:nvSpPr>
          <p:cNvPr id="63" name="Bullet 63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Bigger products are drawn bigger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5" name="Bullet 65"/>
          <p:cNvSpPr txBox="1"/>
          <p:nvPr/>
        </p:nvSpPr>
        <p:spPr>
          <a:xfrm>
            <a:off x="1787144" y="617220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slider replays the batch from start to now</a:t>
            </a:r>
          </a:p>
        </p:txBody>
      </p:sp>
      <p:pic>
        <p:nvPicPr>
          <p:cNvPr id="66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26427"/>
            <a:ext cx="186944" cy="186944"/>
          </a:xfrm>
          <a:prstGeom prst="rect">
            <a:avLst/>
          </a:prstGeom>
        </p:spPr>
      </p:pic>
      <p:sp>
        <p:nvSpPr>
          <p:cNvPr id="67" name="Bullet 67"/>
          <p:cNvSpPr txBox="1"/>
          <p:nvPr/>
        </p:nvSpPr>
        <p:spPr>
          <a:xfrm>
            <a:off x="1787144" y="666800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 product to highlight all pieces of that model</a:t>
            </a:r>
          </a:p>
        </p:txBody>
      </p:sp>
      <p:sp>
        <p:nvSpPr>
          <p:cNvPr id="68" name="Screen bezel 68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9" name="Screenshot" descr="rack3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3D. Monitor room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 3D view of the plating room, live from the log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164583"/>
            <a:ext cx="1388241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Monitor 3D</a:t>
            </a:r>
          </a:p>
        </p:txBody>
      </p:sp>
      <p:pic>
        <p:nvPicPr>
          <p:cNvPr id="59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100827"/>
            <a:ext cx="186944" cy="186944"/>
          </a:xfrm>
          <a:prstGeom prst="rect">
            <a:avLst/>
          </a:prstGeom>
        </p:spPr>
      </p:pic>
      <p:sp>
        <p:nvSpPr>
          <p:cNvPr id="60" name="Bullet 60"/>
          <p:cNvSpPr txBox="1"/>
          <p:nvPr/>
        </p:nvSpPr>
        <p:spPr>
          <a:xfrm>
            <a:off x="1787144" y="5042408"/>
            <a:ext cx="5169936" cy="58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One tank per bath, with its volt and temperature on display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872987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814567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lamp turns orange when a batch needs attention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368795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6310375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Click a tank, the PC or the X-ray machine to zoom in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864603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806183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Each new reading shows the operator walking the round</a:t>
            </a:r>
          </a:p>
        </p:txBody>
      </p:sp>
      <p:sp>
        <p:nvSpPr>
          <p:cNvPr id="67" name="Screen bezel 67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8" name="Screenshot" descr="moni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REPORTS. Ten reports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All ten reports use the same filters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Panel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1369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Tag 58"/>
          <p:cNvSpPr/>
          <p:nvPr/>
        </p:nvSpPr>
        <p:spPr>
          <a:xfrm>
            <a:off x="1417320" y="4302760"/>
            <a:ext cx="1140759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R01–R10</a:t>
            </a:r>
          </a:p>
        </p:txBody>
      </p:sp>
      <p:sp>
        <p:nvSpPr>
          <p:cNvPr id="59" name="Tag 59"/>
          <p:cNvSpPr/>
          <p:nvPr/>
        </p:nvSpPr>
        <p:spPr>
          <a:xfrm>
            <a:off x="2704383" y="4302760"/>
            <a:ext cx="861740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CSV</a:t>
            </a:r>
          </a:p>
        </p:txBody>
      </p:sp>
      <p:sp>
        <p:nvSpPr>
          <p:cNvPr id="60" name="Tag 60"/>
          <p:cNvSpPr/>
          <p:nvPr/>
        </p:nvSpPr>
        <p:spPr>
          <a:xfrm>
            <a:off x="3712428" y="4302760"/>
            <a:ext cx="83351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PDF</a:t>
            </a:r>
          </a:p>
        </p:txBody>
      </p:sp>
      <p:pic>
        <p:nvPicPr>
          <p:cNvPr id="61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239003"/>
            <a:ext cx="186944" cy="186944"/>
          </a:xfrm>
          <a:prstGeom prst="rect">
            <a:avLst/>
          </a:prstGeom>
        </p:spPr>
      </p:pic>
      <p:sp>
        <p:nvSpPr>
          <p:cNvPr id="62" name="Bullet 62"/>
          <p:cNvSpPr txBox="1"/>
          <p:nvPr/>
        </p:nvSpPr>
        <p:spPr>
          <a:xfrm>
            <a:off x="1787144" y="5180584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Ten standard reports, R01 to R10</a:t>
            </a:r>
          </a:p>
        </p:txBody>
      </p:sp>
      <p:pic>
        <p:nvPicPr>
          <p:cNvPr id="63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5734812"/>
            <a:ext cx="186944" cy="186944"/>
          </a:xfrm>
          <a:prstGeom prst="rect">
            <a:avLst/>
          </a:prstGeom>
        </p:spPr>
      </p:pic>
      <p:sp>
        <p:nvSpPr>
          <p:cNvPr id="64" name="Bullet 64"/>
          <p:cNvSpPr txBox="1"/>
          <p:nvPr/>
        </p:nvSpPr>
        <p:spPr>
          <a:xfrm>
            <a:off x="1787144" y="5676392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Filter by date, tank, batch, product model or status</a:t>
            </a:r>
          </a:p>
        </p:txBody>
      </p:sp>
      <p:pic>
        <p:nvPicPr>
          <p:cNvPr id="65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230619"/>
            <a:ext cx="186944" cy="186944"/>
          </a:xfrm>
          <a:prstGeom prst="rect">
            <a:avLst/>
          </a:prstGeom>
        </p:spPr>
      </p:pic>
      <p:sp>
        <p:nvSpPr>
          <p:cNvPr id="66" name="Bullet 66"/>
          <p:cNvSpPr txBox="1"/>
          <p:nvPr/>
        </p:nvSpPr>
        <p:spPr>
          <a:xfrm>
            <a:off x="1787144" y="6172200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Share a filtered report by copying its link</a:t>
            </a:r>
          </a:p>
        </p:txBody>
      </p:sp>
      <p:pic>
        <p:nvPicPr>
          <p:cNvPr id="67" name="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7320" y="6726427"/>
            <a:ext cx="186944" cy="186944"/>
          </a:xfrm>
          <a:prstGeom prst="rect">
            <a:avLst/>
          </a:prstGeom>
        </p:spPr>
      </p:pic>
      <p:sp>
        <p:nvSpPr>
          <p:cNvPr id="68" name="Bullet 68"/>
          <p:cNvSpPr txBox="1"/>
          <p:nvPr/>
        </p:nvSpPr>
        <p:spPr>
          <a:xfrm>
            <a:off x="1787144" y="6668008"/>
            <a:ext cx="5619496" cy="312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76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Download as a spreadsheet (CSV) or print to PDF</a:t>
            </a:r>
          </a:p>
        </p:txBody>
      </p:sp>
      <p:sp>
        <p:nvSpPr>
          <p:cNvPr id="69" name="Screen bezel 69"/>
          <p:cNvSpPr/>
          <p:nvPr/>
        </p:nvSpPr>
        <p:spPr>
          <a:xfrm>
            <a:off x="7927848" y="2760345"/>
            <a:ext cx="9052559" cy="5726429"/>
          </a:xfrm>
          <a:prstGeom prst="roundRect">
            <a:avLst>
              <a:gd name="adj" fmla="val 2554"/>
            </a:avLst>
          </a:prstGeom>
          <a:solidFill>
            <a:srgbClr val="0B0B0B"/>
          </a:solidFill>
          <a:ln w="1270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70" name="Screenshot" descr="re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9288" y="2851785"/>
            <a:ext cx="8869680" cy="5543549"/>
          </a:xfrm>
          <a:prstGeom prst="roundRect">
            <a:avLst>
              <a:gd name="adj" fmla="val 1484"/>
            </a:avLst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REPORTS. Checked against Excel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The app gives the same numbers as the Excel files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Stat tile 57"/>
          <p:cNvSpPr/>
          <p:nvPr/>
        </p:nvSpPr>
        <p:spPr>
          <a:xfrm>
            <a:off x="93268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8" name="Stat value 58"/>
          <p:cNvSpPr txBox="1"/>
          <p:nvPr/>
        </p:nvSpPr>
        <p:spPr>
          <a:xfrm>
            <a:off x="1344168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7</a:t>
            </a:r>
          </a:p>
        </p:txBody>
      </p:sp>
      <p:sp>
        <p:nvSpPr>
          <p:cNvPr id="59" name="Stat label 59"/>
          <p:cNvSpPr txBox="1"/>
          <p:nvPr/>
        </p:nvSpPr>
        <p:spPr>
          <a:xfrm>
            <a:off x="1344168" y="5806440"/>
            <a:ext cx="2951683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batch logs checked against Excel</a:t>
            </a:r>
          </a:p>
        </p:txBody>
      </p:sp>
      <p:sp>
        <p:nvSpPr>
          <p:cNvPr id="60" name="Stat tile 60"/>
          <p:cNvSpPr/>
          <p:nvPr/>
        </p:nvSpPr>
        <p:spPr>
          <a:xfrm>
            <a:off x="510463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1" name="Stat value 61"/>
          <p:cNvSpPr txBox="1"/>
          <p:nvPr/>
        </p:nvSpPr>
        <p:spPr>
          <a:xfrm>
            <a:off x="5516118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13</a:t>
            </a:r>
          </a:p>
        </p:txBody>
      </p:sp>
      <p:sp>
        <p:nvSpPr>
          <p:cNvPr id="62" name="Stat label 62"/>
          <p:cNvSpPr txBox="1"/>
          <p:nvPr/>
        </p:nvSpPr>
        <p:spPr>
          <a:xfrm>
            <a:off x="5516118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surface-area sheets checked</a:t>
            </a:r>
          </a:p>
        </p:txBody>
      </p:sp>
      <p:sp>
        <p:nvSpPr>
          <p:cNvPr id="63" name="Stat tile 63"/>
          <p:cNvSpPr/>
          <p:nvPr/>
        </p:nvSpPr>
        <p:spPr>
          <a:xfrm>
            <a:off x="927658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4" name="Stat value 64"/>
          <p:cNvSpPr txBox="1"/>
          <p:nvPr/>
        </p:nvSpPr>
        <p:spPr>
          <a:xfrm>
            <a:off x="9688067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31</a:t>
            </a:r>
          </a:p>
        </p:txBody>
      </p:sp>
      <p:sp>
        <p:nvSpPr>
          <p:cNvPr id="65" name="Stat label 65"/>
          <p:cNvSpPr txBox="1"/>
          <p:nvPr/>
        </p:nvSpPr>
        <p:spPr>
          <a:xfrm>
            <a:off x="9688067" y="5806440"/>
            <a:ext cx="307467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automatic tests run on every change</a:t>
            </a:r>
          </a:p>
        </p:txBody>
      </p:sp>
      <p:sp>
        <p:nvSpPr>
          <p:cNvPr id="66" name="Stat tile 66"/>
          <p:cNvSpPr/>
          <p:nvPr/>
        </p:nvSpPr>
        <p:spPr>
          <a:xfrm>
            <a:off x="13448538" y="3520440"/>
            <a:ext cx="3897630" cy="32004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7" name="Stat value 67"/>
          <p:cNvSpPr txBox="1"/>
          <p:nvPr/>
        </p:nvSpPr>
        <p:spPr>
          <a:xfrm>
            <a:off x="13860017" y="3840480"/>
            <a:ext cx="3074670" cy="10332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7776"/>
              </a:lnSpc>
            </a:pPr>
            <a:r>
              <a:rPr lang="en-US" sz="7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62</a:t>
            </a:r>
          </a:p>
        </p:txBody>
      </p:sp>
      <p:sp>
        <p:nvSpPr>
          <p:cNvPr id="68" name="Stat label 68"/>
          <p:cNvSpPr txBox="1"/>
          <p:nvPr/>
        </p:nvSpPr>
        <p:spPr>
          <a:xfrm>
            <a:off x="13860017" y="6080760"/>
            <a:ext cx="307467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product models in the list</a:t>
            </a:r>
          </a:p>
        </p:txBody>
      </p:sp>
      <p:sp>
        <p:nvSpPr>
          <p:cNvPr id="69" name="Note 69"/>
          <p:cNvSpPr txBox="1"/>
          <p:nvPr/>
        </p:nvSpPr>
        <p:spPr>
          <a:xfrm>
            <a:off x="932688" y="7040880"/>
            <a:ext cx="164134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sz="16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When the plant does not record a value yet, the report leaves it empty instead of guessing.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DEVICE. Telemetric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Telemetric collects data so people can decide faster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pic>
        <p:nvPicPr>
          <p:cNvPr id="57" name="Figure" descr="mma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3338442"/>
            <a:ext cx="5486400" cy="4661675"/>
          </a:xfrm>
          <a:prstGeom prst="rect">
            <a:avLst/>
          </a:prstGeom>
        </p:spPr>
      </p:pic>
      <p:sp>
        <p:nvSpPr>
          <p:cNvPr id="58" name="Card 58"/>
          <p:cNvSpPr/>
          <p:nvPr/>
        </p:nvSpPr>
        <p:spPr>
          <a:xfrm>
            <a:off x="7040880" y="2784348"/>
            <a:ext cx="10305288" cy="1709928"/>
          </a:xfrm>
          <a:prstGeom prst="roundRect">
            <a:avLst>
              <a:gd name="adj" fmla="val 534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59" name="Card head 59"/>
          <p:cNvSpPr txBox="1"/>
          <p:nvPr/>
        </p:nvSpPr>
        <p:spPr>
          <a:xfrm>
            <a:off x="7452360" y="3131820"/>
            <a:ext cx="948232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Sensors</a:t>
            </a:r>
          </a:p>
        </p:txBody>
      </p:sp>
      <p:pic>
        <p:nvPicPr>
          <p:cNvPr id="60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3893312"/>
            <a:ext cx="186944" cy="186944"/>
          </a:xfrm>
          <a:prstGeom prst="rect">
            <a:avLst/>
          </a:prstGeom>
        </p:spPr>
      </p:pic>
      <p:sp>
        <p:nvSpPr>
          <p:cNvPr id="61" name="Item 61"/>
          <p:cNvSpPr txBox="1"/>
          <p:nvPr/>
        </p:nvSpPr>
        <p:spPr>
          <a:xfrm>
            <a:off x="7836408" y="3835908"/>
            <a:ext cx="9098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Smart sensors read the values you choose to watch</a:t>
            </a:r>
          </a:p>
        </p:txBody>
      </p:sp>
      <p:sp>
        <p:nvSpPr>
          <p:cNvPr id="62" name="Card 62"/>
          <p:cNvSpPr/>
          <p:nvPr/>
        </p:nvSpPr>
        <p:spPr>
          <a:xfrm>
            <a:off x="7040880" y="4768596"/>
            <a:ext cx="10305288" cy="1709928"/>
          </a:xfrm>
          <a:prstGeom prst="roundRect">
            <a:avLst>
              <a:gd name="adj" fmla="val 5347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sp>
        <p:nvSpPr>
          <p:cNvPr id="63" name="Card head 63"/>
          <p:cNvSpPr txBox="1"/>
          <p:nvPr/>
        </p:nvSpPr>
        <p:spPr>
          <a:xfrm>
            <a:off x="7452360" y="5116068"/>
            <a:ext cx="948232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Cloud</a:t>
            </a:r>
          </a:p>
        </p:txBody>
      </p:sp>
      <p:pic>
        <p:nvPicPr>
          <p:cNvPr id="64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5877560"/>
            <a:ext cx="186944" cy="186944"/>
          </a:xfrm>
          <a:prstGeom prst="rect">
            <a:avLst/>
          </a:prstGeom>
        </p:spPr>
      </p:pic>
      <p:sp>
        <p:nvSpPr>
          <p:cNvPr id="65" name="Item 65"/>
          <p:cNvSpPr txBox="1"/>
          <p:nvPr/>
        </p:nvSpPr>
        <p:spPr>
          <a:xfrm>
            <a:off x="7836408" y="5820156"/>
            <a:ext cx="9098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Data goes to an online server, so you can check it anywhere, any time</a:t>
            </a:r>
          </a:p>
        </p:txBody>
      </p:sp>
      <p:sp>
        <p:nvSpPr>
          <p:cNvPr id="66" name="Card 66"/>
          <p:cNvSpPr/>
          <p:nvPr/>
        </p:nvSpPr>
        <p:spPr>
          <a:xfrm>
            <a:off x="7040880" y="6752844"/>
            <a:ext cx="10305288" cy="1709928"/>
          </a:xfrm>
          <a:prstGeom prst="roundRect">
            <a:avLst>
              <a:gd name="adj" fmla="val 5347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sp>
        <p:nvSpPr>
          <p:cNvPr id="67" name="Card head 67"/>
          <p:cNvSpPr txBox="1"/>
          <p:nvPr/>
        </p:nvSpPr>
        <p:spPr>
          <a:xfrm>
            <a:off x="7452360" y="7100316"/>
            <a:ext cx="948232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500"/>
              </a:lnSpc>
            </a:pPr>
            <a:r>
              <a:rPr lang="en-US" sz="22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Dashboard</a:t>
            </a:r>
          </a:p>
        </p:txBody>
      </p:sp>
      <p:pic>
        <p:nvPicPr>
          <p:cNvPr id="68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0" y="7861808"/>
            <a:ext cx="186944" cy="186944"/>
          </a:xfrm>
          <a:prstGeom prst="rect">
            <a:avLst/>
          </a:prstGeom>
        </p:spPr>
      </p:pic>
      <p:sp>
        <p:nvSpPr>
          <p:cNvPr id="69" name="Item 69"/>
          <p:cNvSpPr txBox="1"/>
          <p:nvPr/>
        </p:nvSpPr>
        <p:spPr>
          <a:xfrm>
            <a:off x="7836408" y="7804404"/>
            <a:ext cx="90982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160"/>
              </a:lnSpc>
            </a:pPr>
            <a:r>
              <a:rPr lang="en-US" sz="16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A screen to watch and control the devices, and share the data fast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14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DEVICE. Indoor sensor box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One device family, two sizes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286000"/>
            <a:ext cx="8074152" cy="5120640"/>
          </a:xfrm>
          <a:prstGeom prst="roundRect">
            <a:avLst>
              <a:gd name="adj" fmla="val 1428"/>
            </a:avLst>
          </a:prstGeom>
          <a:gradFill rotWithShape="1">
            <a:gsLst>
              <a:gs pos="0">
                <a:srgbClr val="ED1C24">
                  <a:alpha val="38000"/>
                </a:srgbClr>
              </a:gs>
              <a:gs pos="100000">
                <a:srgbClr val="ED1C24">
                  <a:alpha val="10000"/>
                </a:srgbClr>
              </a:gs>
            </a:gsLst>
            <a:lin ang="2700000"/>
          </a:gradFill>
          <a:ln w="19050" cap="rnd">
            <a:solidFill>
              <a:srgbClr val="ED1C24">
                <a:alpha val="80000"/>
              </a:srgbClr>
            </a:solidFill>
            <a:prstDash val="solid"/>
            <a:round/>
          </a:ln>
        </p:spPr>
      </p:sp>
      <p:pic>
        <p:nvPicPr>
          <p:cNvPr id="58" name="Picture 57" descr="mma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506" y="2560320"/>
            <a:ext cx="3228515" cy="2743200"/>
          </a:xfrm>
          <a:prstGeom prst="rect">
            <a:avLst/>
          </a:prstGeom>
        </p:spPr>
      </p:pic>
      <p:sp>
        <p:nvSpPr>
          <p:cNvPr id="59" name="Text 59"/>
          <p:cNvSpPr txBox="1"/>
          <p:nvPr/>
        </p:nvSpPr>
        <p:spPr>
          <a:xfrm>
            <a:off x="1344168" y="54406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"/>
              </a:lnSpc>
            </a:pPr>
            <a:r>
              <a:rPr lang="en-US" sz="13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Telemetric MMA  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1344168" y="57607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00"/>
              </a:lnSpc>
            </a:pPr>
            <a:r>
              <a:rPr lang="en-US" sz="24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Module Master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344168" y="6355080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5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flexible one. Add extra modules to fit different jobs in the factory.</a:t>
            </a:r>
          </a:p>
        </p:txBody>
      </p:sp>
      <p:sp>
        <p:nvSpPr>
          <p:cNvPr id="62" name="Card 62"/>
          <p:cNvSpPr/>
          <p:nvPr/>
        </p:nvSpPr>
        <p:spPr>
          <a:xfrm>
            <a:off x="9272015" y="2286000"/>
            <a:ext cx="8074152" cy="5120640"/>
          </a:xfrm>
          <a:prstGeom prst="roundRect">
            <a:avLst>
              <a:gd name="adj" fmla="val 1428"/>
            </a:avLst>
          </a:prstGeom>
          <a:gradFill rotWithShape="1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15000"/>
                </a:srgbClr>
              </a:gs>
            </a:gsLst>
            <a:lin ang="0"/>
          </a:gradFill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63" name="Picture 62" descr="tmc_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75064" y="2560320"/>
            <a:ext cx="3468054" cy="2743200"/>
          </a:xfrm>
          <a:prstGeom prst="rect">
            <a:avLst/>
          </a:prstGeom>
        </p:spPr>
      </p:pic>
      <p:sp>
        <p:nvSpPr>
          <p:cNvPr id="64" name="Text 64"/>
          <p:cNvSpPr txBox="1"/>
          <p:nvPr/>
        </p:nvSpPr>
        <p:spPr>
          <a:xfrm>
            <a:off x="9683495" y="54406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"/>
              </a:lnSpc>
            </a:pPr>
            <a:r>
              <a:rPr lang="en-US" sz="1300" b="1" spc="120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 xml:space="preserve">Telemetric TMC  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9683495" y="5760720"/>
            <a:ext cx="7223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00"/>
              </a:lnSpc>
            </a:pPr>
            <a:r>
              <a:rPr lang="en-US" sz="24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Module Compact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9683495" y="6355080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sz="15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The small one. Inputs and outputs are built in, ready for a specific job.</a:t>
            </a:r>
          </a:p>
        </p:txBody>
      </p:sp>
      <p:sp>
        <p:nvSpPr>
          <p:cNvPr id="67" name="Tag 67"/>
          <p:cNvSpPr/>
          <p:nvPr/>
        </p:nvSpPr>
        <p:spPr>
          <a:xfrm>
            <a:off x="932688" y="7772400"/>
            <a:ext cx="165803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Real-time data</a:t>
            </a:r>
          </a:p>
        </p:txBody>
      </p:sp>
      <p:sp>
        <p:nvSpPr>
          <p:cNvPr id="68" name="Tag 68"/>
          <p:cNvSpPr/>
          <p:nvPr/>
        </p:nvSpPr>
        <p:spPr>
          <a:xfrm>
            <a:off x="2737030" y="7772400"/>
            <a:ext cx="1574624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Wi-Fi or cable</a:t>
            </a:r>
          </a:p>
        </p:txBody>
      </p:sp>
      <p:sp>
        <p:nvSpPr>
          <p:cNvPr id="69" name="Tag 69"/>
          <p:cNvSpPr/>
          <p:nvPr/>
        </p:nvSpPr>
        <p:spPr>
          <a:xfrm>
            <a:off x="4457958" y="7772400"/>
            <a:ext cx="1977145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Sends to the cloud</a:t>
            </a:r>
          </a:p>
        </p:txBody>
      </p:sp>
      <p:sp>
        <p:nvSpPr>
          <p:cNvPr id="70" name="Tag 70"/>
          <p:cNvSpPr/>
          <p:nvPr/>
        </p:nvSpPr>
        <p:spPr>
          <a:xfrm>
            <a:off x="932688" y="8321040"/>
            <a:ext cx="1592488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Easy to install</a:t>
            </a:r>
          </a:p>
        </p:txBody>
      </p:sp>
      <p:sp>
        <p:nvSpPr>
          <p:cNvPr id="71" name="Tag 71"/>
          <p:cNvSpPr/>
          <p:nvPr/>
        </p:nvSpPr>
        <p:spPr>
          <a:xfrm>
            <a:off x="2671480" y="8321040"/>
            <a:ext cx="2245936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Set up from a browser</a:t>
            </a:r>
          </a:p>
        </p:txBody>
      </p:sp>
      <p:sp>
        <p:nvSpPr>
          <p:cNvPr id="72" name="Tag 72"/>
          <p:cNvSpPr/>
          <p:nvPr/>
        </p:nvSpPr>
        <p:spPr>
          <a:xfrm>
            <a:off x="5063721" y="8321040"/>
            <a:ext cx="2241331" cy="420624"/>
          </a:xfrm>
          <a:prstGeom prst="roundRect">
            <a:avLst>
              <a:gd name="adj" fmla="val 50000"/>
            </a:avLst>
          </a:prstGeom>
          <a:solidFill>
            <a:srgbClr val="ED1C2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Add more as you grow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15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DEVICE. Technical details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Same base, different inputs and outputs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graphicFrame>
        <p:nvGraphicFramePr>
          <p:cNvPr id="57" name="Table"/>
          <p:cNvGraphicFramePr>
            <a:graphicFrameLocks noGrp="1"/>
          </p:cNvGraphicFramePr>
          <p:nvPr/>
        </p:nvGraphicFramePr>
        <p:xfrm>
          <a:off x="932688" y="2377440"/>
          <a:ext cx="16413478" cy="5867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787726"/>
                <a:gridCol w="6312876"/>
                <a:gridCol w="6312876"/>
              </a:tblGrid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Item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MMA Module Master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Semi-Bold"/>
                          <a:ea typeface="General Sans 2 Semi-Bold"/>
                          <a:cs typeface="General Sans 2 Semi-Bold"/>
                          <a:sym typeface="General Sans 2 Semi-Bold"/>
                        </a:rPr>
                        <a:t>TMC Module Compact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1C24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Works in temperature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-10° to 85°C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-10° to 85°C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Works in humidity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10% to 70%, no condensation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10% to 70%, no condensation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Power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12–30 V DC, 6.4 mm plug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12–30 V DC, 6.4 mm plug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Sends data by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MQTT, radio (908.2–920.8 MHz), ESP NOW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MQTT, radio (908.2–920.8 MHz), ESP NOW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Connects through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2.4 GHz Wi-Fi or network cable (RJ45)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2.4 GHz Wi-Fi or network cable (RJ45)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Built-in sensors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Temperature, humidity, current, voltage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Temperature, humidity, current, voltage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Inputs and outputs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Add up to 2 modules: digital input or Modbus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4 inputs, 2 outputs, 2 Modbus RTU ports (RS485/RS232)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Setup and updates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From a browser; updates over the local network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From a browser; updates over the local network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Case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ABS plastic, IP60 (dust-proof)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ABS plastic, IP60 (dust-proof)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Size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110 × 150 × 43 mm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110 × 150 × 43 mm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Mounting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DIN rail or bolts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90"/>
                        </a:lnSpc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General Sans 2 Medium"/>
                          <a:ea typeface="General Sans 2 Medium"/>
                          <a:cs typeface="General Sans 2 Medium"/>
                          <a:sym typeface="General Sans 2 Medium"/>
                        </a:rPr>
                        <a:t>DIN rail or bolts</a:t>
                      </a:r>
                    </a:p>
                  </a:txBody>
                  <a:tcPr marL="274320" marR="274320" marT="73152" marB="731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8" name="Note 58"/>
          <p:cNvSpPr txBox="1"/>
          <p:nvPr/>
        </p:nvSpPr>
        <p:spPr>
          <a:xfrm>
            <a:off x="932688" y="8446008"/>
            <a:ext cx="164134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300">
                <a:solidFill>
                  <a:srgbClr val="C8C8C8"/>
                </a:solidFill>
                <a:latin typeface="General Sans 2"/>
                <a:ea typeface="General Sans 2"/>
                <a:cs typeface="General Sans 2"/>
                <a:sym typeface="General Sans 2"/>
              </a:rPr>
              <a:t>Both are digital devices with dynamic or static IP. Source: Telemetric Indoor Remote I/O brochure, ©2025.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16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DEVICE. What it can connect to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Six ways the device connects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821"/>
            </a:avLst>
          </a:prstGeom>
          <a:noFill/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58" name="Picture 57" descr="features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2560320"/>
            <a:ext cx="12070080" cy="607698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522870" y="-6402805"/>
            <a:ext cx="23477851" cy="21670490"/>
            <a:chOff x="0" y="0"/>
            <a:chExt cx="31303801" cy="2889398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4448874"/>
              <a:ext cx="24384000" cy="24445113"/>
            </a:xfrm>
            <a:custGeom>
              <a:avLst/>
              <a:gdLst/>
              <a:ahLst/>
              <a:cxnLst/>
              <a:rect r="r" b="b" t="t" l="l"/>
              <a:pathLst>
                <a:path h="24445113" w="24384000">
                  <a:moveTo>
                    <a:pt x="24384000" y="0"/>
                  </a:moveTo>
                  <a:lnTo>
                    <a:pt x="0" y="0"/>
                  </a:lnTo>
                  <a:lnTo>
                    <a:pt x="0" y="24445112"/>
                  </a:lnTo>
                  <a:lnTo>
                    <a:pt x="24384000" y="24445112"/>
                  </a:lnTo>
                  <a:lnTo>
                    <a:pt x="2438400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849453" y="0"/>
              <a:ext cx="26454348" cy="26454348"/>
            </a:xfrm>
            <a:custGeom>
              <a:avLst/>
              <a:gdLst/>
              <a:ahLst/>
              <a:cxnLst/>
              <a:rect r="r" b="b" t="t" l="l"/>
              <a:pathLst>
                <a:path h="26454348" w="26454348">
                  <a:moveTo>
                    <a:pt x="0" y="0"/>
                  </a:moveTo>
                  <a:lnTo>
                    <a:pt x="26454348" y="0"/>
                  </a:lnTo>
                  <a:lnTo>
                    <a:pt x="26454348" y="26454348"/>
                  </a:lnTo>
                  <a:lnTo>
                    <a:pt x="0" y="2645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564" y="9378499"/>
            <a:ext cx="16410316" cy="220863"/>
            <a:chOff x="0" y="0"/>
            <a:chExt cx="21880421" cy="2944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8596" cy="294485"/>
            </a:xfrm>
            <a:custGeom>
              <a:avLst/>
              <a:gdLst/>
              <a:ahLst/>
              <a:cxnLst/>
              <a:rect r="r" b="b" t="t" l="l"/>
              <a:pathLst>
                <a:path h="294485" w="938596">
                  <a:moveTo>
                    <a:pt x="0" y="0"/>
                  </a:moveTo>
                  <a:lnTo>
                    <a:pt x="938596" y="0"/>
                  </a:lnTo>
                  <a:lnTo>
                    <a:pt x="938596" y="294485"/>
                  </a:lnTo>
                  <a:lnTo>
                    <a:pt x="0" y="29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tr_left" id="7"/>
            <p:cNvSpPr txBox="true"/>
            <p:nvPr/>
          </p:nvSpPr>
          <p:spPr>
            <a:xfrm rot="0">
              <a:off x="2267695" y="71178"/>
              <a:ext cx="3927467" cy="223307"/>
            </a:xfrm>
            <a:prstGeom prst="rect">
              <a:avLst/>
            </a:prstGeom>
          </p:spPr>
          <p:txBody>
            <a:bodyPr anchor="t" rtlCol="false" tIns="0" lIns="0" bIns="0" rIns="0" wrap="none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Electroforming Console ©2026        www.wit.id        Page 17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6092912" y="71178"/>
              <a:ext cx="5787509" cy="223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sz="1000" spc="10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 360° Digital Transformation Culture Company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2844" y="714680"/>
            <a:ext cx="16397036" cy="484209"/>
            <a:chOff x="0" y="0"/>
            <a:chExt cx="21862714" cy="645612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21007709" y="0"/>
              <a:ext cx="855005" cy="645612"/>
              <a:chOff x="0" y="0"/>
              <a:chExt cx="168890" cy="127528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68890" cy="127528"/>
              </a:xfrm>
              <a:custGeom>
                <a:avLst/>
                <a:gdLst/>
                <a:ahLst/>
                <a:cxnLst/>
                <a:rect r="r" b="b" t="t" l="l"/>
                <a:pathLst>
                  <a:path h="127528" w="168890">
                    <a:moveTo>
                      <a:pt x="63764" y="0"/>
                    </a:moveTo>
                    <a:lnTo>
                      <a:pt x="105126" y="0"/>
                    </a:lnTo>
                    <a:cubicBezTo>
                      <a:pt x="122037" y="0"/>
                      <a:pt x="138256" y="6718"/>
                      <a:pt x="150214" y="18676"/>
                    </a:cubicBezTo>
                    <a:cubicBezTo>
                      <a:pt x="162172" y="30634"/>
                      <a:pt x="168890" y="46853"/>
                      <a:pt x="168890" y="63764"/>
                    </a:cubicBezTo>
                    <a:lnTo>
                      <a:pt x="168890" y="63764"/>
                    </a:lnTo>
                    <a:cubicBezTo>
                      <a:pt x="168890" y="80675"/>
                      <a:pt x="162172" y="96894"/>
                      <a:pt x="150214" y="108852"/>
                    </a:cubicBezTo>
                    <a:cubicBezTo>
                      <a:pt x="138256" y="120810"/>
                      <a:pt x="122037" y="127528"/>
                      <a:pt x="105126" y="127528"/>
                    </a:cubicBezTo>
                    <a:lnTo>
                      <a:pt x="63764" y="127528"/>
                    </a:lnTo>
                    <a:cubicBezTo>
                      <a:pt x="46853" y="127528"/>
                      <a:pt x="30634" y="120810"/>
                      <a:pt x="18676" y="108852"/>
                    </a:cubicBezTo>
                    <a:cubicBezTo>
                      <a:pt x="6718" y="96894"/>
                      <a:pt x="0" y="80675"/>
                      <a:pt x="0" y="63764"/>
                    </a:cubicBezTo>
                    <a:lnTo>
                      <a:pt x="0" y="63764"/>
                    </a:lnTo>
                    <a:cubicBezTo>
                      <a:pt x="0" y="46853"/>
                      <a:pt x="6718" y="30634"/>
                      <a:pt x="18676" y="18676"/>
                    </a:cubicBezTo>
                    <a:cubicBezTo>
                      <a:pt x="30634" y="6718"/>
                      <a:pt x="46853" y="0"/>
                      <a:pt x="63764" y="0"/>
                    </a:cubicBezTo>
                    <a:close/>
                  </a:path>
                </a:pathLst>
              </a:custGeom>
              <a:solidFill>
                <a:srgbClr val="ED1C2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68890" cy="1751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true" flipV="false" rot="0">
              <a:off x="21232501" y="161374"/>
              <a:ext cx="405422" cy="322864"/>
            </a:xfrm>
            <a:custGeom>
              <a:avLst/>
              <a:gdLst/>
              <a:ahLst/>
              <a:cxnLst/>
              <a:rect r="r" b="b" t="t" l="l"/>
              <a:pathLst>
                <a:path h="322864" w="405422">
                  <a:moveTo>
                    <a:pt x="405422" y="0"/>
                  </a:moveTo>
                  <a:lnTo>
                    <a:pt x="0" y="0"/>
                  </a:lnTo>
                  <a:lnTo>
                    <a:pt x="0" y="322864"/>
                  </a:lnTo>
                  <a:lnTo>
                    <a:pt x="405422" y="322864"/>
                  </a:lnTo>
                  <a:lnTo>
                    <a:pt x="405422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hdr_label" id="55"/>
            <p:cNvSpPr txBox="true"/>
            <p:nvPr/>
          </p:nvSpPr>
          <p:spPr>
            <a:xfrm rot="0">
              <a:off x="0" y="-31053"/>
              <a:ext cx="9449419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18">
                  <a:solidFill>
                    <a:srgbClr val="FFFFFF"/>
                  </a:solidFill>
                  <a:latin typeface="General Sans 2"/>
                  <a:ea typeface="General Sans 2"/>
                  <a:cs typeface="General Sans 2"/>
                  <a:sym typeface="General Sans 2"/>
                </a:rPr>
                <a:t>DEVICE. How data travels</a:t>
              </a:r>
            </a:p>
          </p:txBody>
        </p:sp>
      </p:grpSp>
      <p:sp>
        <p:nvSpPr>
          <p:cNvPr id="56" name="Title 56"/>
          <p:cNvSpPr txBox="1"/>
          <p:nvPr/>
        </p:nvSpPr>
        <p:spPr>
          <a:xfrm>
            <a:off x="932688" y="1527048"/>
            <a:ext cx="164134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66"/>
              </a:lnSpc>
            </a:pPr>
            <a:r>
              <a:rPr lang="en-US" sz="292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From the sensor to your screen</a:t>
            </a:r>
            <a:r>
              <a:rPr lang="en-US" sz="2920" b="1">
                <a:solidFill>
                  <a:srgbClr val="ED1C24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.</a:t>
            </a:r>
          </a:p>
        </p:txBody>
      </p:sp>
      <p:sp>
        <p:nvSpPr>
          <p:cNvPr id="57" name="Card 57"/>
          <p:cNvSpPr/>
          <p:nvPr/>
        </p:nvSpPr>
        <p:spPr>
          <a:xfrm>
            <a:off x="932688" y="2286000"/>
            <a:ext cx="16413480" cy="6675120"/>
          </a:xfrm>
          <a:prstGeom prst="roundRect">
            <a:avLst>
              <a:gd name="adj" fmla="val 821"/>
            </a:avLst>
          </a:prstGeom>
          <a:noFill/>
          <a:ln w="19050" cap="rnd">
            <a:gradFill>
              <a:gsLst>
                <a:gs pos="0">
                  <a:srgbClr val="FFFFFF">
                    <a:alpha val="66000"/>
                  </a:srgbClr>
                </a:gs>
                <a:gs pos="20000">
                  <a:srgbClr val="FFFFFF">
                    <a:alpha val="7000"/>
                  </a:srgbClr>
                </a:gs>
                <a:gs pos="40000">
                  <a:srgbClr val="FFFFFF">
                    <a:alpha val="42000"/>
                  </a:srgbClr>
                </a:gs>
                <a:gs pos="60000">
                  <a:srgbClr val="FFFFFF">
                    <a:alpha val="56000"/>
                  </a:srgbClr>
                </a:gs>
                <a:gs pos="80000">
                  <a:srgbClr val="FFFFFF">
                    <a:alpha val="24000"/>
                  </a:srgbClr>
                </a:gs>
                <a:gs pos="100000">
                  <a:srgbClr val="FFFFFF">
                    <a:alpha val="85500"/>
                  </a:srgbClr>
                </a:gs>
              </a:gsLst>
              <a:lin ang="5400000"/>
            </a:gradFill>
            <a:prstDash val="solid"/>
            <a:round/>
          </a:ln>
        </p:spPr>
      </p:sp>
      <p:pic>
        <p:nvPicPr>
          <p:cNvPr id="58" name="Picture 57" descr="topology_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514600"/>
            <a:ext cx="11338560" cy="4944077"/>
          </a:xfrm>
          <a:prstGeom prst="rect">
            <a:avLst/>
          </a:prstGeom>
        </p:spPr>
      </p:pic>
      <p:pic>
        <p:nvPicPr>
          <p:cNvPr id="59" name="Picture 58" descr="legend_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7909560"/>
            <a:ext cx="3291840" cy="682454"/>
          </a:xfrm>
          <a:prstGeom prst="rect">
            <a:avLst/>
          </a:prstGeom>
        </p:spPr>
      </p:pic>
      <p:sp>
        <p:nvSpPr>
          <p:cNvPr id="60" name="Text 60"/>
          <p:cNvSpPr txBox="1"/>
          <p:nvPr/>
        </p:nvSpPr>
        <p:spPr>
          <a:xfrm>
            <a:off x="5120640" y="7955279"/>
            <a:ext cx="11795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400" b="1">
                <a:solidFill>
                  <a:srgbClr val="C8C8C8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Meters and sensors plug into the device by cable. The device sends the data over Wi-Fi or a network cable, or by radio through a gateway. The data is stored and shown on the dashboard.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28700" y="-4294433"/>
            <a:ext cx="18288000" cy="18333835"/>
          </a:xfrm>
          <a:custGeom>
            <a:avLst/>
            <a:gdLst/>
            <a:ahLst/>
            <a:cxnLst/>
            <a:rect r="r" b="b" t="t" l="l"/>
            <a:pathLst>
              <a:path h="18333835" w="18288000">
                <a:moveTo>
                  <a:pt x="0" y="0"/>
                </a:moveTo>
                <a:lnTo>
                  <a:pt x="18288000" y="0"/>
                </a:lnTo>
                <a:lnTo>
                  <a:pt x="18288000" y="18333835"/>
                </a:lnTo>
                <a:lnTo>
                  <a:pt x="0" y="1833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400000">
            <a:off x="6068922" y="-2248063"/>
            <a:ext cx="6412290" cy="18550134"/>
            <a:chOff x="0" y="0"/>
            <a:chExt cx="2087269" cy="60382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7269" cy="6038267"/>
            </a:xfrm>
            <a:custGeom>
              <a:avLst/>
              <a:gdLst/>
              <a:ahLst/>
              <a:cxnLst/>
              <a:rect r="r" b="b" t="t" l="l"/>
              <a:pathLst>
                <a:path h="6038267" w="2087269">
                  <a:moveTo>
                    <a:pt x="0" y="0"/>
                  </a:moveTo>
                  <a:lnTo>
                    <a:pt x="2087269" y="0"/>
                  </a:lnTo>
                  <a:lnTo>
                    <a:pt x="2087269" y="6038267"/>
                  </a:lnTo>
                  <a:lnTo>
                    <a:pt x="0" y="6038267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87269" cy="6009692"/>
            </a:xfrm>
            <a:prstGeom prst="rect">
              <a:avLst/>
            </a:prstGeom>
          </p:spPr>
          <p:txBody>
            <a:bodyPr anchor="ctr" rtlCol="false" tIns="41103" lIns="41103" bIns="41103" rIns="41103"/>
            <a:lstStyle/>
            <a:p>
              <a:pPr algn="ctr">
                <a:lnSpc>
                  <a:spcPts val="179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5942412">
            <a:off x="5380700" y="-4053675"/>
            <a:ext cx="19024252" cy="19024252"/>
          </a:xfrm>
          <a:custGeom>
            <a:avLst/>
            <a:gdLst/>
            <a:ahLst/>
            <a:cxnLst/>
            <a:rect r="r" b="b" t="t" l="l"/>
            <a:pathLst>
              <a:path h="19024252" w="19024252">
                <a:moveTo>
                  <a:pt x="0" y="0"/>
                </a:moveTo>
                <a:lnTo>
                  <a:pt x="19024252" y="0"/>
                </a:lnTo>
                <a:lnTo>
                  <a:pt x="19024252" y="19024251"/>
                </a:lnTo>
                <a:lnTo>
                  <a:pt x="0" y="19024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747035"/>
            <a:ext cx="2237830" cy="699985"/>
          </a:xfrm>
          <a:custGeom>
            <a:avLst/>
            <a:gdLst/>
            <a:ahLst/>
            <a:cxnLst/>
            <a:rect r="r" b="b" t="t" l="l"/>
            <a:pathLst>
              <a:path h="699985" w="2237830">
                <a:moveTo>
                  <a:pt x="0" y="0"/>
                </a:moveTo>
                <a:lnTo>
                  <a:pt x="2237830" y="0"/>
                </a:lnTo>
                <a:lnTo>
                  <a:pt x="2237830" y="699985"/>
                </a:lnTo>
                <a:lnTo>
                  <a:pt x="0" y="6999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w="19050" cap="rnd">
              <a:solidFill>
                <a:srgbClr val="FEFEFE">
                  <a:alpha val="31765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593141" y="6722605"/>
            <a:ext cx="6666159" cy="2535695"/>
            <a:chOff x="0" y="0"/>
            <a:chExt cx="2376360" cy="903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76361" cy="903928"/>
            </a:xfrm>
            <a:custGeom>
              <a:avLst/>
              <a:gdLst/>
              <a:ahLst/>
              <a:cxnLst/>
              <a:rect r="r" b="b" t="t" l="l"/>
              <a:pathLst>
                <a:path h="903928" w="2376361">
                  <a:moveTo>
                    <a:pt x="29034" y="0"/>
                  </a:moveTo>
                  <a:lnTo>
                    <a:pt x="2347326" y="0"/>
                  </a:lnTo>
                  <a:cubicBezTo>
                    <a:pt x="2363361" y="0"/>
                    <a:pt x="2376361" y="12999"/>
                    <a:pt x="2376361" y="29034"/>
                  </a:cubicBezTo>
                  <a:lnTo>
                    <a:pt x="2376361" y="874893"/>
                  </a:lnTo>
                  <a:cubicBezTo>
                    <a:pt x="2376361" y="890929"/>
                    <a:pt x="2363361" y="903928"/>
                    <a:pt x="2347326" y="903928"/>
                  </a:cubicBezTo>
                  <a:lnTo>
                    <a:pt x="29034" y="903928"/>
                  </a:lnTo>
                  <a:cubicBezTo>
                    <a:pt x="12999" y="903928"/>
                    <a:pt x="0" y="890929"/>
                    <a:pt x="0" y="874893"/>
                  </a:cubicBezTo>
                  <a:lnTo>
                    <a:pt x="0" y="29034"/>
                  </a:lnTo>
                  <a:cubicBezTo>
                    <a:pt x="0" y="12999"/>
                    <a:pt x="12999" y="0"/>
                    <a:pt x="290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470"/>
                  </a:srgbClr>
                </a:gs>
                <a:gs pos="50000">
                  <a:srgbClr val="FFFFFF">
                    <a:alpha val="8820"/>
                  </a:srgbClr>
                </a:gs>
                <a:gs pos="100000">
                  <a:srgbClr val="FFFFFF">
                    <a:alpha val="21000"/>
                  </a:srgbClr>
                </a:gs>
              </a:gsLst>
              <a:lin ang="5400000"/>
            </a:gradFill>
            <a:ln w="19050" cap="rnd">
              <a:solidFill>
                <a:srgbClr val="FEFEFE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2376360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05153" y="6722605"/>
            <a:ext cx="3386600" cy="2535695"/>
            <a:chOff x="0" y="0"/>
            <a:chExt cx="1207259" cy="903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07259" cy="903928"/>
            </a:xfrm>
            <a:custGeom>
              <a:avLst/>
              <a:gdLst/>
              <a:ahLst/>
              <a:cxnLst/>
              <a:rect r="r" b="b" t="t" l="l"/>
              <a:pathLst>
                <a:path h="903928" w="1207259">
                  <a:moveTo>
                    <a:pt x="57151" y="0"/>
                  </a:moveTo>
                  <a:lnTo>
                    <a:pt x="1150108" y="0"/>
                  </a:lnTo>
                  <a:cubicBezTo>
                    <a:pt x="1181672" y="0"/>
                    <a:pt x="1207259" y="25587"/>
                    <a:pt x="1207259" y="57151"/>
                  </a:cubicBezTo>
                  <a:lnTo>
                    <a:pt x="1207259" y="846777"/>
                  </a:lnTo>
                  <a:cubicBezTo>
                    <a:pt x="1207259" y="878340"/>
                    <a:pt x="1181672" y="903928"/>
                    <a:pt x="1150108" y="903928"/>
                  </a:cubicBezTo>
                  <a:lnTo>
                    <a:pt x="57151" y="903928"/>
                  </a:lnTo>
                  <a:cubicBezTo>
                    <a:pt x="25587" y="903928"/>
                    <a:pt x="0" y="878340"/>
                    <a:pt x="0" y="846777"/>
                  </a:cubicBezTo>
                  <a:lnTo>
                    <a:pt x="0" y="57151"/>
                  </a:lnTo>
                  <a:cubicBezTo>
                    <a:pt x="0" y="25587"/>
                    <a:pt x="25587" y="0"/>
                    <a:pt x="57151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207259" cy="8753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99"/>
                </a:lnSpc>
              </a:pPr>
            </a:p>
          </p:txBody>
        </p:sp>
      </p:grpSp>
      <p:sp>
        <p:nvSpPr>
          <p:cNvPr name="closing_divider" id="28"/>
          <p:cNvSpPr/>
          <p:nvPr/>
        </p:nvSpPr>
        <p:spPr>
          <a:xfrm flipV="true">
            <a:off x="13224347" y="7008602"/>
            <a:ext cx="0" cy="1860749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028700" y="8634350"/>
            <a:ext cx="2237830" cy="6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22"/>
              </a:lnSpc>
              <a:spcBef>
                <a:spcPct val="0"/>
              </a:spcBef>
            </a:pPr>
            <a:r>
              <a:rPr lang="en-US" b="true" sz="1622" spc="-8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360° Digital Transformation Culture Company</a:t>
            </a:r>
          </a:p>
        </p:txBody>
      </p:sp>
      <p:sp>
        <p:nvSpPr>
          <p:cNvPr name="closing_head" id="30"/>
          <p:cNvSpPr txBox="true"/>
          <p:nvPr/>
        </p:nvSpPr>
        <p:spPr>
          <a:xfrm rot="0">
            <a:off x="7176023" y="6898118"/>
            <a:ext cx="2536482" cy="380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b="true" sz="2068" spc="-10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Make IT Happen.</a:t>
            </a:r>
          </a:p>
        </p:txBody>
      </p:sp>
      <p:sp>
        <p:nvSpPr>
          <p:cNvPr name="closing_msg" id="31"/>
          <p:cNvSpPr txBox="true"/>
          <p:nvPr/>
        </p:nvSpPr>
        <p:spPr>
          <a:xfrm rot="0">
            <a:off x="7176023" y="7498079"/>
            <a:ext cx="265176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b="true" sz="1350" spc="-7">
                <a:solidFill>
                  <a:srgbClr val="FFFFFF"/>
                </a:solidFill>
                <a:latin typeface="General Sans 2 Bold"/>
                <a:ea typeface="General Sans 2 Bold"/>
                <a:cs typeface="General Sans 2 Bold"/>
                <a:sym typeface="General Sans 2 Bold"/>
              </a:rPr>
              <a:t>The app already runs on the trial data from Tank 1 and Tank 2. Next, it can take live data from the Telemetric device.</a:t>
            </a:r>
          </a:p>
        </p:txBody>
      </p:sp>
      <p:sp>
        <p:nvSpPr>
          <p:cNvPr id="32" name="Label 32"/>
          <p:cNvSpPr txBox="1"/>
          <p:nvPr/>
        </p:nvSpPr>
        <p:spPr>
          <a:xfrm>
            <a:off x="10963656" y="7004304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NEXT STEPS</a:t>
            </a:r>
          </a:p>
        </p:txBody>
      </p:sp>
      <p:pic>
        <p:nvPicPr>
          <p:cNvPr id="33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429500"/>
            <a:ext cx="173736" cy="173736"/>
          </a:xfrm>
          <a:prstGeom prst="rect">
            <a:avLst/>
          </a:prstGeom>
        </p:spPr>
      </p:pic>
      <p:sp>
        <p:nvSpPr>
          <p:cNvPr id="34" name="Item 34"/>
          <p:cNvSpPr txBox="1"/>
          <p:nvPr/>
        </p:nvSpPr>
        <p:spPr>
          <a:xfrm>
            <a:off x="11256264" y="7388352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Server and database</a:t>
            </a:r>
          </a:p>
        </p:txBody>
      </p:sp>
      <p:pic>
        <p:nvPicPr>
          <p:cNvPr id="35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7840979"/>
            <a:ext cx="173736" cy="173736"/>
          </a:xfrm>
          <a:prstGeom prst="rect">
            <a:avLst/>
          </a:prstGeom>
        </p:spPr>
      </p:pic>
      <p:sp>
        <p:nvSpPr>
          <p:cNvPr id="36" name="Item 36"/>
          <p:cNvSpPr txBox="1"/>
          <p:nvPr/>
        </p:nvSpPr>
        <p:spPr>
          <a:xfrm>
            <a:off x="11256264" y="779983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Live data from device</a:t>
            </a:r>
          </a:p>
        </p:txBody>
      </p:sp>
      <p:pic>
        <p:nvPicPr>
          <p:cNvPr id="37" name="Check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8252459"/>
            <a:ext cx="173736" cy="173736"/>
          </a:xfrm>
          <a:prstGeom prst="rect">
            <a:avLst/>
          </a:prstGeom>
        </p:spPr>
      </p:pic>
      <p:sp>
        <p:nvSpPr>
          <p:cNvPr id="38" name="Item 38"/>
          <p:cNvSpPr txBox="1"/>
          <p:nvPr/>
        </p:nvSpPr>
        <p:spPr>
          <a:xfrm>
            <a:off x="11256264" y="8211311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271" b="1">
                <a:solidFill>
                  <a:srgbClr val="FFFFFF"/>
                </a:solidFill>
                <a:latin typeface="General Sans 2 Medium"/>
                <a:ea typeface="General Sans 2 Medium"/>
                <a:cs typeface="General Sans 2 Medium"/>
                <a:sym typeface="General Sans 2 Medium"/>
              </a:rPr>
              <a:t>Plant pH and temp limits</a:t>
            </a:r>
          </a:p>
        </p:txBody>
      </p:sp>
      <p:sp>
        <p:nvSpPr>
          <p:cNvPr id="39" name="Label 39"/>
          <p:cNvSpPr txBox="1"/>
          <p:nvPr/>
        </p:nvSpPr>
        <p:spPr>
          <a:xfrm>
            <a:off x="13651992" y="7004304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REPO</a:t>
            </a:r>
          </a:p>
        </p:txBody>
      </p:sp>
      <p:sp>
        <p:nvSpPr>
          <p:cNvPr id="40" name="Value 40"/>
          <p:cNvSpPr txBox="1"/>
          <p:nvPr/>
        </p:nvSpPr>
        <p:spPr>
          <a:xfrm>
            <a:off x="13651992" y="7333488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Electroforming-UBS</a:t>
            </a:r>
          </a:p>
        </p:txBody>
      </p:sp>
      <p:sp>
        <p:nvSpPr>
          <p:cNvPr id="41" name="Label 41"/>
          <p:cNvSpPr txBox="1"/>
          <p:nvPr/>
        </p:nvSpPr>
        <p:spPr>
          <a:xfrm>
            <a:off x="13651992" y="7991856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300"/>
              </a:lnSpc>
            </a:pPr>
            <a:r>
              <a:rPr lang="en-US" sz="1100" b="1" spc="120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WEB</a:t>
            </a:r>
          </a:p>
        </p:txBody>
      </p:sp>
      <p:sp>
        <p:nvSpPr>
          <p:cNvPr id="42" name="Value 42"/>
          <p:cNvSpPr txBox="1"/>
          <p:nvPr/>
        </p:nvSpPr>
        <p:spPr>
          <a:xfrm>
            <a:off x="13651992" y="83210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00"/>
              </a:lnSpc>
            </a:pPr>
            <a:r>
              <a:rPr lang="en-US" sz="1500" b="1">
                <a:solidFill>
                  <a:srgbClr val="FFFFFF"/>
                </a:solidFill>
                <a:latin typeface="General Sans 2 Semi-Bold"/>
                <a:ea typeface="General Sans 2 Semi-Bold"/>
                <a:cs typeface="General Sans 2 Semi-Bold"/>
                <a:sym typeface="General Sans 2 Semi-Bold"/>
              </a:rPr>
              <a:t>www.wit.id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DAHSgwKjGq8</dc:identifier>
  <dcterms:modified xsi:type="dcterms:W3CDTF">2011-08-01T06:04:30Z</dcterms:modified>
  <cp:revision>1</cp:revision>
  <dc:title>Electroforming Console</dc:title>
</cp:coreProperties>
</file>